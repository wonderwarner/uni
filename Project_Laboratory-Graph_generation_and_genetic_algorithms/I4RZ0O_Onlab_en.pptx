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21"/>
  </p:notesMasterIdLst>
  <p:sldIdLst>
    <p:sldId id="321" r:id="rId2"/>
    <p:sldId id="323" r:id="rId3"/>
    <p:sldId id="325" r:id="rId4"/>
    <p:sldId id="324" r:id="rId5"/>
    <p:sldId id="328" r:id="rId6"/>
    <p:sldId id="337" r:id="rId7"/>
    <p:sldId id="338" r:id="rId8"/>
    <p:sldId id="340" r:id="rId9"/>
    <p:sldId id="329" r:id="rId10"/>
    <p:sldId id="327" r:id="rId11"/>
    <p:sldId id="330" r:id="rId12"/>
    <p:sldId id="331" r:id="rId13"/>
    <p:sldId id="339" r:id="rId14"/>
    <p:sldId id="326" r:id="rId15"/>
    <p:sldId id="332" r:id="rId16"/>
    <p:sldId id="333" r:id="rId17"/>
    <p:sldId id="334" r:id="rId18"/>
    <p:sldId id="336" r:id="rId19"/>
    <p:sldId id="335" r:id="rId20"/>
  </p:sldIdLst>
  <p:sldSz cx="12192000" cy="6858000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ExtraBold" panose="020B0906030804020204" pitchFamily="34" charset="0"/>
      <p:bold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7EA84-21F4-43AE-B20F-1BC65ADE92FE}">
          <p14:sldIdLst>
            <p14:sldId id="321"/>
            <p14:sldId id="323"/>
            <p14:sldId id="325"/>
            <p14:sldId id="324"/>
            <p14:sldId id="328"/>
            <p14:sldId id="337"/>
            <p14:sldId id="338"/>
            <p14:sldId id="340"/>
            <p14:sldId id="329"/>
            <p14:sldId id="327"/>
            <p14:sldId id="330"/>
            <p14:sldId id="331"/>
            <p14:sldId id="339"/>
            <p14:sldId id="326"/>
            <p14:sldId id="332"/>
            <p14:sldId id="333"/>
            <p14:sldId id="334"/>
            <p14:sldId id="336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2B61"/>
    <a:srgbClr val="2B3D8A"/>
    <a:srgbClr val="5F2C60"/>
    <a:srgbClr val="283C88"/>
    <a:srgbClr val="253E8E"/>
    <a:srgbClr val="0D4F97"/>
    <a:srgbClr val="4464AD"/>
    <a:srgbClr val="615756"/>
    <a:srgbClr val="503D3F"/>
    <a:srgbClr val="3A7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81699" autoAdjust="0"/>
  </p:normalViewPr>
  <p:slideViewPr>
    <p:cSldViewPr snapToGrid="0">
      <p:cViewPr varScale="1">
        <p:scale>
          <a:sx n="67" d="100"/>
          <a:sy n="67" d="100"/>
        </p:scale>
        <p:origin x="1493" y="62"/>
      </p:cViewPr>
      <p:guideLst/>
    </p:cSldViewPr>
  </p:slideViewPr>
  <p:notesTextViewPr>
    <p:cViewPr>
      <p:scale>
        <a:sx n="100" d="100"/>
        <a:sy n="100" d="100"/>
      </p:scale>
      <p:origin x="0" y="-254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83783-5DCD-4AF3-8240-3A025A9A52F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A45F1-7FE6-4F4B-AE1D-BF73A7FF3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b="0" i="0" u="non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Célérték optimalizálás alapú bejárási algoritmus fejlesztése gráfgeneráló keretrendszerhez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0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8142-6F4A-B847-BED3-AA0A012E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D663A-4B22-7555-0908-1CF78E90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882FA-20FB-58AC-4272-27D19B304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Manapság az informatika és természettudományok számos területén használunk gráfokat komplex feladatokra.</a:t>
            </a:r>
          </a:p>
          <a:p>
            <a:endParaRPr lang="hu-HU" dirty="0"/>
          </a:p>
          <a:p>
            <a:r>
              <a:rPr lang="hu-HU" dirty="0"/>
              <a:t>Például modellezési nyelvek struktúrájának és adatszerkezeteknek a leírására, viselkedés szimulálására, analízisére, optimalizálására</a:t>
            </a:r>
          </a:p>
          <a:p>
            <a:endParaRPr lang="hu-HU" dirty="0"/>
          </a:p>
          <a:p>
            <a:r>
              <a:rPr lang="hu-HU" dirty="0"/>
              <a:t>Ezért szeretnénk gráfokat automatikusan generálni különböző célokkal: konzisztens, realisztikus, </a:t>
            </a:r>
            <a:r>
              <a:rPr lang="hu-HU" dirty="0" err="1"/>
              <a:t>diverz</a:t>
            </a:r>
            <a:r>
              <a:rPr lang="hu-HU" dirty="0"/>
              <a:t>, skálázható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16A3-A641-B5D1-EC65-174348D9B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46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7A6D-FE6D-5807-8FA1-E79C29DA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1858A-D0F6-B854-7515-5DDA98BDE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660FE-31CA-4C3F-E94A-DF4DC4688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Erre alapvetően megoldást ad a </a:t>
            </a:r>
            <a:r>
              <a:rPr lang="hu-HU" dirty="0" err="1"/>
              <a:t>Refinery</a:t>
            </a:r>
            <a:r>
              <a:rPr lang="hu-HU" dirty="0"/>
              <a:t> gráfgeneráló keretrendszer, aminek a releváns részeiről beszélnék bevezetőleg:</a:t>
            </a:r>
          </a:p>
          <a:p>
            <a:endParaRPr lang="hu-HU" dirty="0"/>
          </a:p>
          <a:p>
            <a:r>
              <a:rPr lang="hu-HU" dirty="0"/>
              <a:t>Tervezési tér alatt értjük egy adott probléma összes lehetséges megoldásának halmazát.</a:t>
            </a:r>
          </a:p>
          <a:p>
            <a:r>
              <a:rPr lang="hu-HU" dirty="0"/>
              <a:t>Ennek a szisztematikus bejárása, vagyis a DSE pedig lehetővé teszi a megoldások felfedezését.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Refineryben</a:t>
            </a:r>
            <a:r>
              <a:rPr lang="hu-HU" dirty="0"/>
              <a:t> minden megoldás parciális modellként van reprezentálva, ami azt jelenti, hogy ez nem feltétlenül végleges</a:t>
            </a:r>
          </a:p>
          <a:p>
            <a:r>
              <a:rPr lang="hu-HU" dirty="0"/>
              <a:t>4-értékű logikával el lehet valamiről mondani, hogy az biztosan van, biztosan nincs, lehet hogy van, vagy pedig ellentmondásos és sosem lesz jó</a:t>
            </a:r>
          </a:p>
          <a:p>
            <a:r>
              <a:rPr lang="hu-HU" dirty="0"/>
              <a:t>Így tulajdonképpen a DSE azt jelenti, hogy a kezdeti modellt folyamatosan finomítjuk különböző szabályokkal míg konkrét modellt nem kapunk.</a:t>
            </a:r>
          </a:p>
          <a:p>
            <a:endParaRPr lang="hu-HU" dirty="0"/>
          </a:p>
          <a:p>
            <a:r>
              <a:rPr lang="hu-HU" dirty="0"/>
              <a:t>Ezek a finomítási szabályok a Decision és Unit </a:t>
            </a:r>
            <a:r>
              <a:rPr lang="hu-HU" dirty="0" err="1"/>
              <a:t>Propagation</a:t>
            </a:r>
            <a:r>
              <a:rPr lang="hu-HU" dirty="0"/>
              <a:t> </a:t>
            </a:r>
            <a:r>
              <a:rPr lang="hu-HU" dirty="0" err="1"/>
              <a:t>Rule</a:t>
            </a:r>
            <a:r>
              <a:rPr lang="hu-HU" dirty="0"/>
              <a:t>-ok.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Refinery</a:t>
            </a:r>
            <a:r>
              <a:rPr lang="hu-HU" dirty="0"/>
              <a:t>-ben használt bejárási algoritmus egy kimerítő „</a:t>
            </a:r>
            <a:r>
              <a:rPr lang="hu-HU" dirty="0" err="1"/>
              <a:t>best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” alapú algoritmus véletlen visszalépéssel.</a:t>
            </a:r>
          </a:p>
          <a:p>
            <a:endParaRPr lang="hu-HU" dirty="0"/>
          </a:p>
          <a:p>
            <a:r>
              <a:rPr lang="hu-HU" dirty="0"/>
              <a:t>Képen látható egy parciális modell és annak egy él 1-re állításával történő finomítása.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8EABC-0609-C2B5-D009-7EE0E41BF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03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99A5-70CC-5732-90DE-2524E40E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DB16C-FE6F-CF87-7D83-99EBA4473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4C3F2-1C0D-55A2-4143-E64B0C4B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kihívást a tervezési tér mérete és annak optimális bejárása jelenti</a:t>
            </a:r>
          </a:p>
          <a:p>
            <a:endParaRPr lang="hu-HU" dirty="0"/>
          </a:p>
          <a:p>
            <a:r>
              <a:rPr lang="hu-HU" dirty="0"/>
              <a:t>A tervezési tér hatalmas, és ebben néhány specifikus megoldást keresünk a várt célfüggvénynek megfelelően.</a:t>
            </a:r>
          </a:p>
          <a:p>
            <a:r>
              <a:rPr lang="hu-HU" dirty="0"/>
              <a:t>Ilyen célfüggvény lehet például forgalmi szituációk esetén a veszélyesség, ha például önvezető autók teszteléséhez szeretnénk gráfokat generálni.</a:t>
            </a:r>
          </a:p>
          <a:p>
            <a:pPr marL="0" indent="0">
              <a:buFontTx/>
              <a:buNone/>
            </a:pPr>
            <a:endParaRPr lang="hu-HU" dirty="0"/>
          </a:p>
          <a:p>
            <a:pPr marL="0" indent="0">
              <a:buFontTx/>
              <a:buNone/>
            </a:pPr>
            <a:r>
              <a:rPr lang="hu-HU" dirty="0"/>
              <a:t>Ha ilyen célfüggvényből több is van, akkor a </a:t>
            </a:r>
            <a:r>
              <a:rPr lang="hu-HU" dirty="0" err="1"/>
              <a:t>Pareto</a:t>
            </a:r>
            <a:r>
              <a:rPr lang="hu-HU" dirty="0"/>
              <a:t>-front megfelelő feltárása is cél lehet.</a:t>
            </a:r>
          </a:p>
          <a:p>
            <a:pPr marL="0" indent="0">
              <a:buFontTx/>
              <a:buNone/>
            </a:pPr>
            <a:r>
              <a:rPr lang="hu-HU" dirty="0"/>
              <a:t>A </a:t>
            </a:r>
            <a:r>
              <a:rPr lang="hu-HU" dirty="0" err="1"/>
              <a:t>Pareto</a:t>
            </a:r>
            <a:r>
              <a:rPr lang="hu-HU" dirty="0"/>
              <a:t>-front azokat a megoldásokat jelenti, amit egy másik megoldás sem dominál.</a:t>
            </a:r>
          </a:p>
          <a:p>
            <a:pPr marL="0" indent="0">
              <a:buFontTx/>
              <a:buNone/>
            </a:pPr>
            <a:r>
              <a:rPr lang="hu-HU" dirty="0"/>
              <a:t>Akkor dominál egy megoldás egy másikat, ha minden célfüggvényben jobban teljesít.</a:t>
            </a:r>
          </a:p>
          <a:p>
            <a:endParaRPr lang="hu-HU" dirty="0"/>
          </a:p>
          <a:p>
            <a:r>
              <a:rPr lang="hu-HU" dirty="0"/>
              <a:t>Példa: közlekedés szituáció</a:t>
            </a:r>
          </a:p>
          <a:p>
            <a:r>
              <a:rPr lang="hu-HU" dirty="0"/>
              <a:t>    - minél veszélyesebb</a:t>
            </a:r>
          </a:p>
          <a:p>
            <a:r>
              <a:rPr lang="hu-HU" dirty="0"/>
              <a:t>    - minél valószínűbb</a:t>
            </a:r>
          </a:p>
          <a:p>
            <a:r>
              <a:rPr lang="hu-HU" dirty="0"/>
              <a:t>A kettő közt trade-</a:t>
            </a:r>
            <a:r>
              <a:rPr lang="hu-HU" dirty="0" err="1"/>
              <a:t>off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Az algoritmus megválasztása rendkívül számottevő abban, hogy mennyire optimális megoldást és mennyi idő alatt talál, vagy esetleg ha az a cél, akkor minél több elég jó megoldást.</a:t>
            </a:r>
          </a:p>
          <a:p>
            <a:endParaRPr lang="hu-HU" dirty="0"/>
          </a:p>
          <a:p>
            <a:r>
              <a:rPr lang="hu-HU" dirty="0"/>
              <a:t>- illetve lehet, hogy a legjobbat szeretnénk megtalálni minél gyorsabban, a lehető legtöbb elég jót, vagy esetleg minden szempont szerint a legjobbakat.</a:t>
            </a:r>
          </a:p>
          <a:p>
            <a:r>
              <a:rPr lang="hu-HU" dirty="0"/>
              <a:t>- ez a választott algoritmuson is múlik, így jó ha van miből választani.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6D9A8-0B35-2328-50A6-9C7FF3080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33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AD34-B563-5DB7-3EB9-CE7D401BD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95223-DB25-2FE9-3C4A-0D52D4D0F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061F1-2A19-DE2B-9A32-7D3523DFD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hu-HU" sz="1200" dirty="0"/>
              <a:t>Ezekre a kihívásokra genetikus algoritmusokkal próbálunk megoldást adni.</a:t>
            </a:r>
          </a:p>
          <a:p>
            <a:pPr>
              <a:buNone/>
            </a:pPr>
            <a:r>
              <a:rPr lang="hu-HU" sz="1200" dirty="0"/>
              <a:t>- biológia evolúció és természetes szelekció</a:t>
            </a:r>
          </a:p>
          <a:p>
            <a:pPr marL="0" indent="0">
              <a:buFontTx/>
              <a:buNone/>
            </a:pPr>
            <a:r>
              <a:rPr lang="hu-HU" sz="1200" dirty="0"/>
              <a:t>- optimalizációs problémák hatékony megoldására</a:t>
            </a:r>
          </a:p>
          <a:p>
            <a:pPr>
              <a:buNone/>
            </a:pPr>
            <a:br>
              <a:rPr lang="hu-HU" sz="1200" dirty="0"/>
            </a:br>
            <a:r>
              <a:rPr lang="hu-HU" sz="1200" dirty="0" err="1"/>
              <a:t>Fitnesshez</a:t>
            </a:r>
            <a:r>
              <a:rPr lang="hu-HU" sz="1200" dirty="0"/>
              <a:t> kell </a:t>
            </a:r>
            <a:r>
              <a:rPr lang="hu-HU" sz="1200" dirty="0" err="1"/>
              <a:t>objective</a:t>
            </a:r>
            <a:r>
              <a:rPr lang="hu-HU" sz="1200" dirty="0"/>
              <a:t>.</a:t>
            </a:r>
          </a:p>
          <a:p>
            <a:pPr>
              <a:buNone/>
            </a:pPr>
            <a:r>
              <a:rPr lang="hu-HU" sz="1200" dirty="0" err="1"/>
              <a:t>Selection</a:t>
            </a:r>
            <a:r>
              <a:rPr lang="hu-HU" sz="1200" dirty="0"/>
              <a:t>: mintavételezés és abból legjobb, </a:t>
            </a:r>
            <a:r>
              <a:rPr lang="hu-HU" sz="1200" dirty="0" err="1"/>
              <a:t>tournament</a:t>
            </a:r>
            <a:endParaRPr lang="hu-HU" sz="1200" dirty="0"/>
          </a:p>
          <a:p>
            <a:pPr>
              <a:buNone/>
            </a:pPr>
            <a:r>
              <a:rPr lang="hu-HU" sz="1200" dirty="0" err="1"/>
              <a:t>Crossover</a:t>
            </a:r>
            <a:r>
              <a:rPr lang="hu-HU" sz="1200" dirty="0"/>
              <a:t>: bitvektorokra </a:t>
            </a:r>
            <a:r>
              <a:rPr lang="hu-HU" sz="1200" dirty="0" err="1"/>
              <a:t>single-point</a:t>
            </a:r>
            <a:r>
              <a:rPr lang="hu-HU" sz="1200" dirty="0"/>
              <a:t> </a:t>
            </a:r>
            <a:r>
              <a:rPr lang="hu-HU" sz="1200" dirty="0" err="1"/>
              <a:t>crossover</a:t>
            </a:r>
            <a:endParaRPr lang="hu-HU" sz="1200" dirty="0"/>
          </a:p>
          <a:p>
            <a:pPr>
              <a:buNone/>
            </a:pPr>
            <a:r>
              <a:rPr lang="hu-HU" sz="1200" dirty="0" err="1"/>
              <a:t>Mutation</a:t>
            </a:r>
            <a:r>
              <a:rPr lang="hu-HU" sz="1200" dirty="0"/>
              <a:t>: véletlen módosítások, decision </a:t>
            </a:r>
            <a:r>
              <a:rPr lang="hu-HU" sz="1200" dirty="0" err="1"/>
              <a:t>rule</a:t>
            </a:r>
            <a:r>
              <a:rPr lang="hu-HU" sz="1200" dirty="0"/>
              <a:t> + </a:t>
            </a:r>
            <a:r>
              <a:rPr lang="hu-HU" sz="1200" dirty="0" err="1"/>
              <a:t>propagation</a:t>
            </a:r>
            <a:r>
              <a:rPr lang="hu-HU" sz="1200" dirty="0"/>
              <a:t> akár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02B41-08D1-798A-92A9-4D2E2F8C5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80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142F-FF9A-61B2-69FC-7B4C4B91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83235-03BD-A5C2-CE8A-F4AED4FCE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DF2D9-7041-C4AA-D57F-CDC966C5A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Konkrét példa az operátorokra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71D49-4F06-AAB4-0232-AF5CE5B1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1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5667-DD4A-779A-32DB-FFB644F8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3E090-60BD-7C33-C781-4AD3B2B39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CB057-60A3-62E3-C15B-C110B61BE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F6E0C-6E77-D262-DFBB-4EFEE054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65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F7F4-5782-5660-5A96-B75FD4F6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AD8F5-57A1-F7D9-61CA-EEF16E871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864B2-E141-DF68-AB60-51B83ACB1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hu-HU" sz="1200"/>
              <a:t>NSGA-II</a:t>
            </a:r>
            <a:r>
              <a:rPr lang="hu-HU" sz="1200" dirty="0"/>
              <a:t>: Non-</a:t>
            </a:r>
            <a:r>
              <a:rPr lang="hu-HU" sz="1200" dirty="0" err="1"/>
              <a:t>dominated</a:t>
            </a:r>
            <a:r>
              <a:rPr lang="hu-HU" sz="1200" dirty="0"/>
              <a:t> Sorting </a:t>
            </a:r>
            <a:r>
              <a:rPr lang="hu-HU" sz="1200" dirty="0" err="1"/>
              <a:t>Genetic</a:t>
            </a:r>
            <a:r>
              <a:rPr lang="hu-HU" sz="1200" dirty="0"/>
              <a:t> </a:t>
            </a:r>
            <a:r>
              <a:rPr lang="hu-HU" sz="1200" dirty="0" err="1"/>
              <a:t>Algorithm</a:t>
            </a:r>
            <a:r>
              <a:rPr lang="hu-HU" sz="1200" dirty="0"/>
              <a:t> II, egyik legelterjedtebb, multi-</a:t>
            </a:r>
            <a:r>
              <a:rPr lang="hu-HU" sz="1200" dirty="0" err="1"/>
              <a:t>objective</a:t>
            </a:r>
            <a:endParaRPr lang="hu-HU" sz="1200" dirty="0"/>
          </a:p>
          <a:p>
            <a:pPr>
              <a:buFont typeface="Arial" panose="020B0604020202020204" pitchFamily="34" charset="0"/>
              <a:buNone/>
            </a:pPr>
            <a:r>
              <a:rPr lang="hu-HU" sz="1200" dirty="0"/>
              <a:t>   - Nem-dominált rendezés: domináltág alapján teszi sorba</a:t>
            </a:r>
          </a:p>
          <a:p>
            <a:pPr>
              <a:buFont typeface="Arial" panose="020B0604020202020204" pitchFamily="34" charset="0"/>
              <a:buNone/>
            </a:pPr>
            <a:r>
              <a:rPr lang="hu-HU" sz="1200" dirty="0"/>
              <a:t>   - </a:t>
            </a:r>
            <a:r>
              <a:rPr lang="hu-HU" sz="1200" dirty="0" err="1"/>
              <a:t>Crowding</a:t>
            </a:r>
            <a:r>
              <a:rPr lang="hu-HU" sz="1200" dirty="0"/>
              <a:t> </a:t>
            </a:r>
            <a:r>
              <a:rPr lang="hu-HU" sz="1200" dirty="0" err="1"/>
              <a:t>distance</a:t>
            </a:r>
            <a:r>
              <a:rPr lang="hu-HU" sz="1200" dirty="0"/>
              <a:t>: Változatosság megőrzése, egyenletesen fedjék le a </a:t>
            </a:r>
            <a:r>
              <a:rPr lang="hu-HU" sz="1200" dirty="0" err="1"/>
              <a:t>Pareto</a:t>
            </a:r>
            <a:r>
              <a:rPr lang="hu-HU" sz="1200" dirty="0"/>
              <a:t>-frontot</a:t>
            </a:r>
          </a:p>
          <a:p>
            <a:pPr>
              <a:buFont typeface="Arial" panose="020B0604020202020204" pitchFamily="34" charset="0"/>
              <a:buNone/>
            </a:pPr>
            <a:r>
              <a:rPr lang="hu-HU" sz="1200" dirty="0"/>
              <a:t>   - Elitizmus: szelekció és keresztezés, a szülő és utód együttesen alkotják az új generációt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hu-HU" dirty="0"/>
              <a:t>AGE2: kis populáció (</a:t>
            </a:r>
            <a:r>
              <a:rPr lang="hu-HU" dirty="0" err="1"/>
              <a:t>Adaptive</a:t>
            </a:r>
            <a:r>
              <a:rPr lang="hu-HU" dirty="0"/>
              <a:t> </a:t>
            </a:r>
            <a:r>
              <a:rPr lang="hu-HU" dirty="0" err="1"/>
              <a:t>Geometry</a:t>
            </a:r>
            <a:r>
              <a:rPr lang="hu-HU" dirty="0"/>
              <a:t> </a:t>
            </a:r>
            <a:r>
              <a:rPr lang="hu-HU" dirty="0" err="1"/>
              <a:t>Estimation</a:t>
            </a:r>
            <a:r>
              <a:rPr lang="hu-HU" dirty="0"/>
              <a:t>)</a:t>
            </a:r>
          </a:p>
          <a:p>
            <a:r>
              <a:rPr lang="hu-HU" dirty="0"/>
              <a:t>MOEA-D: </a:t>
            </a:r>
            <a:r>
              <a:rPr lang="hu-HU" dirty="0" err="1"/>
              <a:t>dekompozíció</a:t>
            </a:r>
            <a:endParaRPr lang="hu-HU" dirty="0"/>
          </a:p>
          <a:p>
            <a:r>
              <a:rPr lang="hu-HU" dirty="0"/>
              <a:t>SPEA2: archívum, </a:t>
            </a:r>
            <a:r>
              <a:rPr lang="hu-HU" dirty="0" err="1"/>
              <a:t>strength</a:t>
            </a:r>
            <a:r>
              <a:rPr lang="hu-HU" dirty="0"/>
              <a:t> (</a:t>
            </a:r>
            <a:r>
              <a:rPr lang="hu-HU" dirty="0" err="1"/>
              <a:t>Strength</a:t>
            </a:r>
            <a:r>
              <a:rPr lang="hu-HU" dirty="0"/>
              <a:t> </a:t>
            </a:r>
            <a:r>
              <a:rPr lang="hu-HU" dirty="0" err="1"/>
              <a:t>Pareto</a:t>
            </a:r>
            <a:r>
              <a:rPr lang="hu-HU" dirty="0"/>
              <a:t> Ev. </a:t>
            </a:r>
            <a:r>
              <a:rPr lang="hu-HU" dirty="0" err="1"/>
              <a:t>Alg</a:t>
            </a:r>
            <a:r>
              <a:rPr lang="hu-HU" dirty="0"/>
              <a:t>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C9ABE-6966-6CBC-D2C1-A4C9C4D8E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4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6620-4F22-C9A4-060C-CE1704A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B6A08-31ED-55F6-D83A-AB180CC93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223F4-59EB-39E3-1000-52B0626F4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Gazdag algoritmusválaszték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Jól dokumentált API, megbízható és optimalizált algoritmusok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Többcélú,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Pareto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-optimális megoldáskeresés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Rugalmas modell -&gt;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Refinery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beilleszthető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Jelenleg az algoritmusnak megadott mutáció: Véletlen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decesion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elsütése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Így tulajdonképpen hasonló, mint eddig, csak az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mondja meg, hogy mikor menjen vissza, Populáció, szelekció alapján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Keresztezés operátor és további mutációk megadása növelheti a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hatékonységot</a:t>
            </a: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és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utóbbi adott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-&gt;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RefineryProblem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evaluate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infeasible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constraints</a:t>
            </a: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Mutation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és Version hozzáférés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VersionVariable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refineryProblem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és 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RuleBasedMutation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mutate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-&gt;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DSEAdapter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-&gt;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Transformations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childVersion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fireRandomActivation</a:t>
            </a: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CRA Index</a:t>
            </a:r>
          </a:p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024A6-F63C-047E-D0E3-B87FB32AC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22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A6CFB-A345-8E10-6719-59FF7248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4B59A-6551-DA7B-86B2-5FF301B69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44231-8BA8-3E3A-55A9-62C750514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Kitekintés</a:t>
            </a:r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Európai Űrügynökség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PNT: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Positioning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Navigating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Timing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neuroszimbolikus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érvelés: logika – gráf – neurális háló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MPE: legvalószínűbb magyarázat generálása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Post-filtering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Transformation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PRISM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Checker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static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fault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reliability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attributes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– FOL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Approaches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Valid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concrete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-&gt; performance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OR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analysis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partial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</a:t>
            </a:r>
            <a:endParaRPr lang="hu-HU" sz="1200" b="0" i="0" u="none" strike="noStrike" kern="100" baseline="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b="0" i="0" u="none" strike="noStrike" kern="100" baseline="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b="0" i="0" u="none" strike="noStrike" kern="100" baseline="0" dirty="0" err="1">
                <a:effectLst/>
                <a:latin typeface="LinLibertineT"/>
                <a:ea typeface="Aptos" panose="020B0004020202020204" pitchFamily="34" charset="0"/>
                <a:cs typeface="Times New Roman" panose="02020603050405020304" pitchFamily="18" charset="0"/>
              </a:rPr>
              <a:t>Pareto</a:t>
            </a:r>
            <a:r>
              <a:rPr lang="hu-HU" sz="1200" b="0" i="0" u="none" strike="noStrike" kern="100" baseline="0" dirty="0">
                <a:effectLst/>
                <a:latin typeface="LinLibertineT"/>
                <a:ea typeface="Aptos" panose="020B0004020202020204" pitchFamily="34" charset="0"/>
                <a:cs typeface="Times New Roman" panose="02020603050405020304" pitchFamily="18" charset="0"/>
              </a:rPr>
              <a:t>: valószínű/veszélyes trade-</a:t>
            </a:r>
            <a:r>
              <a:rPr lang="hu-HU" sz="1200" b="0" i="0" u="none" strike="noStrike" kern="100" baseline="0" dirty="0" err="1">
                <a:effectLst/>
                <a:latin typeface="LinLibertineT"/>
                <a:ea typeface="Aptos" panose="020B0004020202020204" pitchFamily="34" charset="0"/>
                <a:cs typeface="Times New Roman" panose="02020603050405020304" pitchFamily="18" charset="0"/>
              </a:rPr>
              <a:t>off</a:t>
            </a: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DCD19-46C5-1248-6990-B8FE1C559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03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8199-B183-DC53-5CB3-EB3ACC0A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914AB-247E-BC70-4ECE-39E3A25EF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0748A-B85C-0CF6-1515-4EAE14583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Gráfgenerálás és tervezési tér bejárás alapjai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Refinery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keretrendszer és annak bővíthetősége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Genetikus algoritmusok megismerése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MOEA keretrendszer integrálása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Következő lépés: Gráfok keresztezése</a:t>
            </a:r>
          </a:p>
          <a:p>
            <a:r>
              <a:rPr lang="hu-HU" dirty="0"/>
              <a:t>	+Mérés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2DA3B-7011-858D-F921-0CC1A1494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41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0060-46DE-D12F-8AE0-F7674622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CE9C4-7707-A1E8-136D-7DDC21710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9441A-3F3A-DEAA-E0B6-FC2EC24FA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0EFC-3386-56D2-E0BB-0930646C1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9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7A3E-3938-D9BA-E51A-824843A1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8E46D-5545-9D5D-F5CD-CDD9C3CE8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5F325-816F-5F11-7C61-FF3B784B0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56CF-EF72-4DDF-E719-81AC33622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44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1944-348C-8C26-82D8-C215491F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714FB-C4EC-9E07-7F48-755963C7F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F666C-CBC7-F209-5921-A63BFF99B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Még visszatérő példa: Előző bővítve egy közös úttal, rajta egy biciklissel +1 tábla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71F98-FEBC-649D-2C88-9A9D1490A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9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7071-DDAA-E5EF-6CD6-5D7274BA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0FA31-934B-1809-C8E9-2440F045A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4E506-CEDA-3302-4C9B-ED8598DF4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Refinery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meglévő szimbólumaival és nézeteivel készítettem olyan tesztet, ahol a modell objektumainak kapcsolatai egy valós számmal is rendelkeztek.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FilteredView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FunctionView</a:t>
            </a: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Ezekre szűrve készítettem külön interpretációkat, így tudtam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-ket írni csak a bizonytalan élekre.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Létrehoztam olyan Decision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-t ami bizonytalan élt átír 0-ra vagy 1-re.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Error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predicate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-t hoztam létre, hogy ne lehessen bizonytalan él.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Veszteség számítása adott verzióhoz és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loss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számítás, Decision </a:t>
            </a:r>
            <a:r>
              <a:rPr lang="hu-HU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Rule</a:t>
            </a:r>
            <a:r>
              <a:rPr lang="hu-HU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esetleges súlyozása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hu-H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20512-B440-6030-92A6-60CB496BA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37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BFA6-33A6-8326-6461-53F5D2F7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B0159-57CF-5A46-FAA9-80A8737A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F84E8-0075-91DE-A810-53C740B91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05CC-1DFC-BD81-5FD2-8B224172C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70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47FF-358E-DFE9-4E40-BF4B1DD6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24029-80D1-A1D1-A6B1-783863803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27BEA-B123-C0EB-A13E-64006A1EC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3116D-C521-05D4-9375-86B3DC319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45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EC4A-2AD0-C596-6789-21E7DB0A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D0037-BD40-1C13-29B3-48749DABC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B0952-CFB7-D6B4-8DCA-14F2546F9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A8751-03F4-2C60-372C-19059B52C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79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CC6F-4E5D-FD9A-2194-F8AA8935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5E8D5-1867-74C2-0A9C-EBD561A8A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CF4CD-4EED-C710-1AD2-4B53EECFB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D4689-B86F-D85D-5AF4-61416F5D2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45F1-7FE6-4F4B-AE1D-BF73A7FF35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1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1674" y="1149532"/>
            <a:ext cx="10168652" cy="1034687"/>
          </a:xfrm>
        </p:spPr>
        <p:txBody>
          <a:bodyPr anchor="b">
            <a:noAutofit/>
          </a:bodyPr>
          <a:lstStyle>
            <a:lvl1pPr algn="l">
              <a:defRPr sz="540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347" y="2401599"/>
            <a:ext cx="7195359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79" y="5625246"/>
            <a:ext cx="2649608" cy="851486"/>
          </a:xfrm>
          <a:prstGeom prst="rect">
            <a:avLst/>
          </a:prstGeom>
        </p:spPr>
      </p:pic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6909619" y="179947"/>
            <a:ext cx="4981650" cy="383463"/>
          </a:xfr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Overview of the research group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4FC3B-156D-44B3-B492-10C897D6AF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86884" y="5630687"/>
            <a:ext cx="3546053" cy="846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7DF58-9032-41E0-A24B-AD70647463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16406" y="5564988"/>
            <a:ext cx="972000" cy="9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CA37E-C027-403A-AED2-6DA57F467D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05025" y="5510988"/>
            <a:ext cx="116756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4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3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Overview of the research group</a:t>
            </a:r>
            <a:endParaRPr lang="en-US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Content Placeholder 36"/>
          <p:cNvSpPr>
            <a:spLocks noGrp="1"/>
          </p:cNvSpPr>
          <p:nvPr>
            <p:ph sz="quarter" idx="12"/>
          </p:nvPr>
        </p:nvSpPr>
        <p:spPr>
          <a:xfrm>
            <a:off x="574978" y="1201994"/>
            <a:ext cx="11021961" cy="5051321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lang="en-US" smtClean="0"/>
            </a:lvl1pPr>
            <a:lvl2pPr marL="685800" indent="-228600">
              <a:buFont typeface="Open Sans" panose="020B0606030504020204" pitchFamily="34" charset="0"/>
              <a:buChar char="–"/>
              <a:defRPr lang="en-US" smtClean="0"/>
            </a:lvl2pPr>
            <a:lvl3pPr marL="1143000" indent="-228600">
              <a:buFont typeface="Open Sans" panose="020B0606030504020204" pitchFamily="34" charset="0"/>
              <a:buChar char="–"/>
              <a:defRPr lang="en-US" smtClean="0"/>
            </a:lvl3pPr>
            <a:lvl4pPr marL="1600200" indent="-228600">
              <a:buFont typeface="Open Sans" panose="020B0606030504020204" pitchFamily="34" charset="0"/>
              <a:buChar char="–"/>
              <a:defRPr lang="en-US" smtClean="0"/>
            </a:lvl4pPr>
            <a:lvl5pPr marL="2057400" indent="-228600">
              <a:buFont typeface="Open Sans" panose="020B0606030504020204" pitchFamily="34" charset="0"/>
              <a:buChar char="–"/>
              <a:defRPr lang="en-US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94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979" y="2083665"/>
            <a:ext cx="5156748" cy="1570703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978" y="3838724"/>
            <a:ext cx="4733002" cy="90702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Overview of the research group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95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4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3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3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2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Overview of the research group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28B9B-0C36-4B0C-9E4A-C3A158CB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 flipH="1">
            <a:off x="-1" y="6419821"/>
            <a:ext cx="11264000" cy="438180"/>
          </a:xfrm>
          <a:custGeom>
            <a:avLst/>
            <a:gdLst>
              <a:gd name="connsiteX0" fmla="*/ 11264000 w 11264000"/>
              <a:gd name="connsiteY0" fmla="*/ 0 h 438180"/>
              <a:gd name="connsiteX1" fmla="*/ 0 w 11264000"/>
              <a:gd name="connsiteY1" fmla="*/ 0 h 438180"/>
              <a:gd name="connsiteX2" fmla="*/ 172203 w 11264000"/>
              <a:gd name="connsiteY2" fmla="*/ 438180 h 438180"/>
              <a:gd name="connsiteX3" fmla="*/ 11264000 w 11264000"/>
              <a:gd name="connsiteY3" fmla="*/ 438180 h 438180"/>
              <a:gd name="connsiteX4" fmla="*/ 11264000 w 11264000"/>
              <a:gd name="connsiteY4" fmla="*/ 0 h 43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64000" h="438180">
                <a:moveTo>
                  <a:pt x="11264000" y="0"/>
                </a:moveTo>
                <a:lnTo>
                  <a:pt x="0" y="0"/>
                </a:lnTo>
                <a:lnTo>
                  <a:pt x="172203" y="438180"/>
                </a:lnTo>
                <a:lnTo>
                  <a:pt x="11264000" y="438180"/>
                </a:lnTo>
                <a:lnTo>
                  <a:pt x="1126400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11208783" y="6419820"/>
            <a:ext cx="983218" cy="438180"/>
          </a:xfrm>
          <a:custGeom>
            <a:avLst/>
            <a:gdLst>
              <a:gd name="connsiteX0" fmla="*/ 172204 w 983218"/>
              <a:gd name="connsiteY0" fmla="*/ 0 h 438180"/>
              <a:gd name="connsiteX1" fmla="*/ 983218 w 983218"/>
              <a:gd name="connsiteY1" fmla="*/ 0 h 438180"/>
              <a:gd name="connsiteX2" fmla="*/ 983218 w 983218"/>
              <a:gd name="connsiteY2" fmla="*/ 438180 h 438180"/>
              <a:gd name="connsiteX3" fmla="*/ 0 w 983218"/>
              <a:gd name="connsiteY3" fmla="*/ 438180 h 438180"/>
              <a:gd name="connsiteX4" fmla="*/ 172204 w 983218"/>
              <a:gd name="connsiteY4" fmla="*/ 0 h 43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3218" h="438180">
                <a:moveTo>
                  <a:pt x="172204" y="0"/>
                </a:moveTo>
                <a:lnTo>
                  <a:pt x="983218" y="0"/>
                </a:lnTo>
                <a:lnTo>
                  <a:pt x="983218" y="438180"/>
                </a:lnTo>
                <a:lnTo>
                  <a:pt x="0" y="438180"/>
                </a:lnTo>
                <a:lnTo>
                  <a:pt x="172204" y="0"/>
                </a:lnTo>
                <a:close/>
              </a:path>
            </a:pathLst>
          </a:custGeom>
          <a:gradFill>
            <a:gsLst>
              <a:gs pos="32000">
                <a:srgbClr val="283C88"/>
              </a:gs>
              <a:gs pos="100000">
                <a:srgbClr val="5F2C60"/>
              </a:gs>
            </a:gsLst>
            <a:lin ang="3852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722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979" y="1201994"/>
            <a:ext cx="11021962" cy="5051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4" t="32447" r="19869" b="31872"/>
          <a:stretch/>
        </p:blipFill>
        <p:spPr>
          <a:xfrm>
            <a:off x="11441362" y="6453743"/>
            <a:ext cx="655748" cy="37819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4359" y="6448478"/>
            <a:ext cx="27432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9BA28B9B-0C36-4B0C-9E4A-C3A158CBB1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3"/>
          </p:nvPr>
        </p:nvSpPr>
        <p:spPr>
          <a:xfrm>
            <a:off x="1" y="6448478"/>
            <a:ext cx="4114800" cy="383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Overview of the research group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0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Tx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0DB6-9088-4FE1-9C41-9689A38AB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94" y="839449"/>
            <a:ext cx="10586768" cy="2738856"/>
          </a:xfrm>
        </p:spPr>
        <p:txBody>
          <a:bodyPr/>
          <a:lstStyle/>
          <a:p>
            <a:r>
              <a:rPr lang="en-US" sz="4800" noProof="0" dirty="0"/>
              <a:t>Development of an objective value optimization-based traversal algorithm for a graph generation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C26A1-A76A-4826-B558-3A43216D4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694" y="3683833"/>
            <a:ext cx="10313031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700" noProof="0" dirty="0"/>
              <a:t>Péter András Tömöri</a:t>
            </a:r>
          </a:p>
          <a:p>
            <a:endParaRPr lang="en-US" u="sng" noProof="0" dirty="0"/>
          </a:p>
          <a:p>
            <a:r>
              <a:rPr lang="en-US" noProof="0" dirty="0"/>
              <a:t>Supervisors: Attila </a:t>
            </a:r>
            <a:r>
              <a:rPr lang="en-US" noProof="0" dirty="0" err="1"/>
              <a:t>Ficsor</a:t>
            </a:r>
            <a:r>
              <a:rPr lang="en-US" noProof="0" dirty="0"/>
              <a:t>, Oszkár </a:t>
            </a:r>
            <a:r>
              <a:rPr lang="en-US" noProof="0" dirty="0" err="1"/>
              <a:t>Semeráth</a:t>
            </a:r>
            <a:r>
              <a:rPr lang="en-US" noProof="0" dirty="0"/>
              <a:t>, Kristóf </a:t>
            </a:r>
            <a:r>
              <a:rPr lang="en-US" noProof="0" dirty="0" err="1"/>
              <a:t>Marussy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285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5484-7CD5-2C7F-AB79-EFCF3975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0D6826-713F-4797-9FFA-7DC750C53A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D86C08-5188-0DC9-5293-0541F6A5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19" name="Tartalom helye 2">
            <a:extLst>
              <a:ext uri="{FF2B5EF4-FFF2-40B4-BE49-F238E27FC236}">
                <a16:creationId xmlns:a16="http://schemas.microsoft.com/office/drawing/2014/main" id="{414DE41E-6AB9-518F-14F4-9C530D369EB6}"/>
              </a:ext>
            </a:extLst>
          </p:cNvPr>
          <p:cNvSpPr txBox="1">
            <a:spLocks/>
          </p:cNvSpPr>
          <p:nvPr/>
        </p:nvSpPr>
        <p:spPr>
          <a:xfrm>
            <a:off x="5514077" y="1360529"/>
            <a:ext cx="6373200" cy="682356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noProof="0" dirty="0">
                <a:solidFill>
                  <a:schemeClr val="accent4"/>
                </a:solidFill>
              </a:rPr>
              <a:t>consistent</a:t>
            </a:r>
            <a:r>
              <a:rPr lang="en-US" noProof="0" dirty="0">
                <a:solidFill>
                  <a:schemeClr val="tx2"/>
                </a:solidFill>
              </a:rPr>
              <a:t> | </a:t>
            </a:r>
            <a:r>
              <a:rPr lang="en-US" b="1" noProof="0" dirty="0">
                <a:solidFill>
                  <a:schemeClr val="accent4">
                    <a:lumMod val="75000"/>
                  </a:schemeClr>
                </a:solidFill>
              </a:rPr>
              <a:t>realistic</a:t>
            </a:r>
            <a:r>
              <a:rPr lang="en-US" noProof="0" dirty="0">
                <a:solidFill>
                  <a:schemeClr val="tx2"/>
                </a:solidFill>
              </a:rPr>
              <a:t> | </a:t>
            </a:r>
            <a:r>
              <a:rPr lang="en-US" b="1" noProof="0" dirty="0">
                <a:solidFill>
                  <a:schemeClr val="accent1"/>
                </a:solidFill>
              </a:rPr>
              <a:t>diverse</a:t>
            </a:r>
            <a:r>
              <a:rPr lang="en-US" noProof="0" dirty="0">
                <a:solidFill>
                  <a:schemeClr val="tx2"/>
                </a:solidFill>
              </a:rPr>
              <a:t> | </a:t>
            </a: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scalable</a:t>
            </a: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DD08A53B-19FA-A62A-5125-1ACBF81DD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77" y="3600974"/>
            <a:ext cx="4859201" cy="2465271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sp>
        <p:nvSpPr>
          <p:cNvPr id="21" name="Szövegdoboz 20">
            <a:extLst>
              <a:ext uri="{FF2B5EF4-FFF2-40B4-BE49-F238E27FC236}">
                <a16:creationId xmlns:a16="http://schemas.microsoft.com/office/drawing/2014/main" id="{2D13C73E-DE1F-874F-6329-599D2AB50B3A}"/>
              </a:ext>
            </a:extLst>
          </p:cNvPr>
          <p:cNvSpPr txBox="1"/>
          <p:nvPr/>
        </p:nvSpPr>
        <p:spPr>
          <a:xfrm>
            <a:off x="557426" y="6017525"/>
            <a:ext cx="3658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https://neo4j.com/graph-visualization-neo4j/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2A257D83-CFF3-10EB-0EF1-C17117420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960" y="2042885"/>
            <a:ext cx="5957669" cy="4023361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79BA8250-EA52-D06F-882B-1686B8F9F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76" y="1262241"/>
            <a:ext cx="4859201" cy="2270835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sp>
        <p:nvSpPr>
          <p:cNvPr id="24" name="Szövegdoboz 23">
            <a:extLst>
              <a:ext uri="{FF2B5EF4-FFF2-40B4-BE49-F238E27FC236}">
                <a16:creationId xmlns:a16="http://schemas.microsoft.com/office/drawing/2014/main" id="{75ADB398-966F-71EF-44D7-89EFA74982F0}"/>
              </a:ext>
            </a:extLst>
          </p:cNvPr>
          <p:cNvSpPr txBox="1"/>
          <p:nvPr/>
        </p:nvSpPr>
        <p:spPr>
          <a:xfrm>
            <a:off x="4479186" y="6017377"/>
            <a:ext cx="7217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https://intellias.com/three-ways-of-testing-adas-in-autonomous-cars-beyond-a-test-drive/</a:t>
            </a:r>
          </a:p>
        </p:txBody>
      </p:sp>
    </p:spTree>
    <p:extLst>
      <p:ext uri="{BB962C8B-B14F-4D97-AF65-F5344CB8AC3E}">
        <p14:creationId xmlns:p14="http://schemas.microsoft.com/office/powerpoint/2010/main" val="2972750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4323E-DB77-68A8-C82D-281B1001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6347F5-5B80-CC7C-597F-1914FF1617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F558B-D02E-910D-2517-32DA1FB71CD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1"/>
            <a:r>
              <a:rPr lang="en-US" noProof="0" dirty="0"/>
              <a:t>Design Space Exploration</a:t>
            </a:r>
          </a:p>
          <a:p>
            <a:pPr lvl="2"/>
            <a:r>
              <a:rPr lang="en-US" b="1" noProof="0" dirty="0"/>
              <a:t>Exhaustive</a:t>
            </a:r>
            <a:r>
              <a:rPr lang="en-US" noProof="0" dirty="0"/>
              <a:t> | </a:t>
            </a:r>
            <a:r>
              <a:rPr lang="en-US" b="1" noProof="0" dirty="0"/>
              <a:t>Heuristic</a:t>
            </a:r>
            <a:r>
              <a:rPr lang="en-US" noProof="0" dirty="0"/>
              <a:t> | Stochastic | Evolutionary</a:t>
            </a:r>
          </a:p>
          <a:p>
            <a:pPr marL="914400" lvl="2" indent="0">
              <a:buNone/>
            </a:pPr>
            <a:endParaRPr lang="en-US" noProof="0" dirty="0"/>
          </a:p>
          <a:p>
            <a:pPr lvl="1"/>
            <a:r>
              <a:rPr lang="en-US" noProof="0" dirty="0"/>
              <a:t>Partial Modeling</a:t>
            </a:r>
          </a:p>
          <a:p>
            <a:pPr lvl="2"/>
            <a:r>
              <a:rPr lang="en-US" noProof="0" dirty="0"/>
              <a:t>Refinement</a:t>
            </a:r>
          </a:p>
          <a:p>
            <a:pPr lvl="2"/>
            <a:r>
              <a:rPr lang="en-US" noProof="0" dirty="0"/>
              <a:t>4-valued logic</a:t>
            </a:r>
          </a:p>
          <a:p>
            <a:pPr marL="914400" lvl="2" indent="0">
              <a:buNone/>
            </a:pPr>
            <a:endParaRPr lang="en-US" noProof="0" dirty="0"/>
          </a:p>
          <a:p>
            <a:pPr lvl="1"/>
            <a:r>
              <a:rPr lang="en-US" noProof="0" dirty="0"/>
              <a:t>Decision Rules</a:t>
            </a:r>
          </a:p>
          <a:p>
            <a:pPr lvl="1"/>
            <a:r>
              <a:rPr lang="en-US" noProof="0" dirty="0"/>
              <a:t>Unit Propagation Rules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0A7DE6-E413-AFE1-CC0A-1CC9C3C2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Preliminary in Refinery</a:t>
            </a: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295F061A-B406-B7DA-0034-66D0BC630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8137" y="266000"/>
            <a:ext cx="1445812" cy="1445812"/>
          </a:xfrm>
          <a:prstGeom prst="rect">
            <a:avLst/>
          </a:prstGeom>
        </p:spPr>
      </p:pic>
      <p:pic>
        <p:nvPicPr>
          <p:cNvPr id="20" name="Kép 19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6098E52-2A8E-80AA-7B66-14233CB009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183" y="2236539"/>
            <a:ext cx="2428883" cy="4182471"/>
          </a:xfrm>
          <a:prstGeom prst="rect">
            <a:avLst/>
          </a:prstGeom>
        </p:spPr>
      </p:pic>
      <p:pic>
        <p:nvPicPr>
          <p:cNvPr id="22" name="Kép 21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067595A-2B50-B568-F2D0-DBE375633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903" y="2111280"/>
            <a:ext cx="2875449" cy="44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2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9F4B-A8B2-8A7A-CD65-FACB252E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5664AF-65A1-D9F5-55F4-C0508FC31C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14000-7D9E-2E01-6F22-1E432A99565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1"/>
            <a:r>
              <a:rPr lang="en-US" noProof="0" dirty="0"/>
              <a:t>Large combinatorial design space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Optimization with specific objectives</a:t>
            </a:r>
          </a:p>
          <a:p>
            <a:pPr lvl="2"/>
            <a:r>
              <a:rPr lang="en-US" noProof="0" dirty="0"/>
              <a:t>time / quantity / diversity</a:t>
            </a:r>
          </a:p>
          <a:p>
            <a:pPr lvl="2"/>
            <a:endParaRPr lang="en-US" noProof="0" dirty="0"/>
          </a:p>
          <a:p>
            <a:pPr lvl="1"/>
            <a:r>
              <a:rPr lang="en-US" noProof="0" dirty="0"/>
              <a:t>Exploration of complete Pareto-front</a:t>
            </a:r>
          </a:p>
          <a:p>
            <a:pPr lvl="2"/>
            <a:r>
              <a:rPr lang="en-US" noProof="0" dirty="0"/>
              <a:t>Multi-objective optimization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AF9542-04EF-E310-2A41-C49B1B3A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Challenges</a:t>
            </a:r>
          </a:p>
        </p:txBody>
      </p:sp>
      <p:pic>
        <p:nvPicPr>
          <p:cNvPr id="5" name="Picture 2" descr="6. Example of a Pareto frontier for a multi-objective optimization problem with two objective functions [16].  ">
            <a:extLst>
              <a:ext uri="{FF2B5EF4-FFF2-40B4-BE49-F238E27FC236}">
                <a16:creationId xmlns:a16="http://schemas.microsoft.com/office/drawing/2014/main" id="{4C2C20AD-9B1D-49DE-2D1D-C200FD0E8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581" y="2824947"/>
            <a:ext cx="4950584" cy="3264359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D71B4E9-28BE-3EBD-52E5-548C21221EB2}"/>
              </a:ext>
            </a:extLst>
          </p:cNvPr>
          <p:cNvSpPr txBox="1"/>
          <p:nvPr/>
        </p:nvSpPr>
        <p:spPr>
          <a:xfrm>
            <a:off x="8102278" y="6089306"/>
            <a:ext cx="4304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noProof="0" dirty="0"/>
              <a:t>https://www.researchgate.net/figure/Example-of-a-Pareto-frontier-for-a-multgrai-objective-optimization-problem-with-two_fig6_309609991</a:t>
            </a:r>
          </a:p>
        </p:txBody>
      </p:sp>
    </p:spTree>
    <p:extLst>
      <p:ext uri="{BB962C8B-B14F-4D97-AF65-F5344CB8AC3E}">
        <p14:creationId xmlns:p14="http://schemas.microsoft.com/office/powerpoint/2010/main" val="119176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34F2-2733-4294-397E-F8F030AE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662B6F-A05E-54CD-5214-1C76DF9E14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D2A3-194E-4F10-8045-57F038FD0E2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1"/>
            <a:r>
              <a:rPr lang="en-US" noProof="0" dirty="0"/>
              <a:t>Based on biological evolution and natural selection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Suitable for optimization problems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AGE2-MOEA, MOEA-D,</a:t>
            </a:r>
            <a:r>
              <a:rPr lang="hu-HU" noProof="0" dirty="0"/>
              <a:t> </a:t>
            </a:r>
            <a:r>
              <a:rPr lang="en-US" noProof="0" dirty="0"/>
              <a:t>NSGA-II</a:t>
            </a:r>
            <a:r>
              <a:rPr lang="hu-HU" noProof="0" dirty="0"/>
              <a:t>,</a:t>
            </a:r>
            <a:r>
              <a:rPr lang="en-US" noProof="0" dirty="0"/>
              <a:t> SPEA2 etc.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Dominance, elitism, crowding distance,</a:t>
            </a:r>
            <a:br>
              <a:rPr lang="en-US" noProof="0" dirty="0"/>
            </a:br>
            <a:r>
              <a:rPr lang="en-US" noProof="0" dirty="0"/>
              <a:t>penalty function, repair operator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884255-1FBC-753B-B628-2F6AE19B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Genetic algorithms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5971E72A-DC95-0F7E-E9B4-27338CFED477}"/>
              </a:ext>
            </a:extLst>
          </p:cNvPr>
          <p:cNvSpPr/>
          <p:nvPr/>
        </p:nvSpPr>
        <p:spPr>
          <a:xfrm>
            <a:off x="8835244" y="337038"/>
            <a:ext cx="1939436" cy="882428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Population</a:t>
            </a: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C0172565-4FE5-D034-C2C6-D46C6E82F395}"/>
              </a:ext>
            </a:extLst>
          </p:cNvPr>
          <p:cNvSpPr/>
          <p:nvPr/>
        </p:nvSpPr>
        <p:spPr>
          <a:xfrm>
            <a:off x="8835244" y="1532818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Fitness</a:t>
            </a: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ACEE6BE-957B-75BD-117C-731427BAE774}"/>
              </a:ext>
            </a:extLst>
          </p:cNvPr>
          <p:cNvSpPr/>
          <p:nvPr/>
        </p:nvSpPr>
        <p:spPr>
          <a:xfrm>
            <a:off x="8835244" y="2762924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Selection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57CDA9DD-3BA6-FDF5-2D8E-7AAB430B19BE}"/>
              </a:ext>
            </a:extLst>
          </p:cNvPr>
          <p:cNvSpPr/>
          <p:nvPr/>
        </p:nvSpPr>
        <p:spPr>
          <a:xfrm>
            <a:off x="8835244" y="3998940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Crossover</a:t>
            </a: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5D2886E6-9F38-A7C6-1AAA-89AF8F7640FC}"/>
              </a:ext>
            </a:extLst>
          </p:cNvPr>
          <p:cNvSpPr/>
          <p:nvPr/>
        </p:nvSpPr>
        <p:spPr>
          <a:xfrm>
            <a:off x="8835244" y="5233626"/>
            <a:ext cx="1939436" cy="953635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Mutation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765F2489-4CAC-9AA1-91B4-517B3942034B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9804962" y="1219466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F02228A6-5F87-DCFE-C24A-ACEA5000941F}"/>
              </a:ext>
            </a:extLst>
          </p:cNvPr>
          <p:cNvCxnSpPr/>
          <p:nvPr/>
        </p:nvCxnSpPr>
        <p:spPr>
          <a:xfrm>
            <a:off x="9804962" y="2449572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717F25D-D912-FF79-F405-99D974B51392}"/>
              </a:ext>
            </a:extLst>
          </p:cNvPr>
          <p:cNvCxnSpPr/>
          <p:nvPr/>
        </p:nvCxnSpPr>
        <p:spPr>
          <a:xfrm>
            <a:off x="9804962" y="3685588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DBC07D9D-101F-5753-AEF3-D9CEA6FA384D}"/>
              </a:ext>
            </a:extLst>
          </p:cNvPr>
          <p:cNvCxnSpPr/>
          <p:nvPr/>
        </p:nvCxnSpPr>
        <p:spPr>
          <a:xfrm>
            <a:off x="9804962" y="4920274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Összekötő: szögletes 13">
            <a:extLst>
              <a:ext uri="{FF2B5EF4-FFF2-40B4-BE49-F238E27FC236}">
                <a16:creationId xmlns:a16="http://schemas.microsoft.com/office/drawing/2014/main" id="{6206530C-C8F0-5195-FA86-29911794A898}"/>
              </a:ext>
            </a:extLst>
          </p:cNvPr>
          <p:cNvCxnSpPr>
            <a:cxnSpLocks/>
            <a:stCxn id="9" idx="6"/>
            <a:endCxn id="6" idx="6"/>
          </p:cNvCxnSpPr>
          <p:nvPr/>
        </p:nvCxnSpPr>
        <p:spPr>
          <a:xfrm flipV="1">
            <a:off x="10774680" y="1991195"/>
            <a:ext cx="12700" cy="3719249"/>
          </a:xfrm>
          <a:prstGeom prst="bentConnector3">
            <a:avLst>
              <a:gd name="adj1" fmla="val 5172150"/>
            </a:avLst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752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E1B3-B0EA-3323-0CAD-7C6B41F3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5BBC7C-2F81-2BEF-4695-7C2085974D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8D7CAD-40C8-3524-2267-1CCB70AC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Genetic algorithms</a:t>
            </a:r>
          </a:p>
        </p:txBody>
      </p:sp>
      <p:pic>
        <p:nvPicPr>
          <p:cNvPr id="20" name="Kép 19" descr="A képen képernyőkép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C19FF73-E81B-6B5C-AC74-37217667B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78" y="1035486"/>
            <a:ext cx="3393729" cy="2811947"/>
          </a:xfrm>
          <a:prstGeom prst="rect">
            <a:avLst/>
          </a:prstGeom>
        </p:spPr>
      </p:pic>
      <p:pic>
        <p:nvPicPr>
          <p:cNvPr id="24" name="Kép 23" descr="A képen képernyőkép, autó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06D8061-4C5F-D73B-759F-5031A572D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78" y="3726834"/>
            <a:ext cx="3393728" cy="2811946"/>
          </a:xfrm>
          <a:prstGeom prst="rect">
            <a:avLst/>
          </a:prstGeom>
        </p:spPr>
      </p:pic>
      <p:pic>
        <p:nvPicPr>
          <p:cNvPr id="18" name="Kép 17" descr="A képen képernyőkép, szöveg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C26A33F-FC2A-AFA8-E309-9936963C2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4"/>
          <a:stretch/>
        </p:blipFill>
        <p:spPr>
          <a:xfrm>
            <a:off x="4389095" y="2424949"/>
            <a:ext cx="3393728" cy="2603767"/>
          </a:xfrm>
          <a:prstGeom prst="rect">
            <a:avLst/>
          </a:prstGeom>
        </p:spPr>
      </p:pic>
      <p:pic>
        <p:nvPicPr>
          <p:cNvPr id="22" name="Kép 21" descr="A képen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84BA17E-DAE4-7565-BDB4-BE7FF7C54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59" y="2442771"/>
            <a:ext cx="3308071" cy="2740973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6F0BF44-3E34-797D-C41F-DBFC427D88E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64830" y="1985884"/>
            <a:ext cx="2442257" cy="63609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noProof="0" dirty="0"/>
              <a:t>Crossover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464452B-32DD-FC21-8CAC-AB4F451B73B7}"/>
              </a:ext>
            </a:extLst>
          </p:cNvPr>
          <p:cNvSpPr txBox="1">
            <a:spLocks/>
          </p:cNvSpPr>
          <p:nvPr/>
        </p:nvSpPr>
        <p:spPr>
          <a:xfrm>
            <a:off x="8861565" y="1985884"/>
            <a:ext cx="2442257" cy="63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–"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–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–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Char char="–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Open Sans" panose="020B0606030504020204" pitchFamily="34" charset="0"/>
              <a:buNone/>
            </a:pPr>
            <a:r>
              <a:rPr lang="en-US" noProof="0" dirty="0"/>
              <a:t>Mutation</a:t>
            </a:r>
          </a:p>
        </p:txBody>
      </p:sp>
    </p:spTree>
    <p:extLst>
      <p:ext uri="{BB962C8B-B14F-4D97-AF65-F5344CB8AC3E}">
        <p14:creationId xmlns:p14="http://schemas.microsoft.com/office/powerpoint/2010/main" val="5675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2092-6B68-1456-C721-729154F6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C94440-229F-87AB-72A2-B1DAFE72A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D101DD-2B23-D0F0-848B-B3CC9D38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Challenge: Crossover of Graphs</a:t>
            </a:r>
          </a:p>
        </p:txBody>
      </p:sp>
      <p:pic>
        <p:nvPicPr>
          <p:cNvPr id="24" name="Kép 23" descr="A képen képernyőkép, autó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7EF4B2E-40BB-D907-2240-E1DFFAEE0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78" y="3726834"/>
            <a:ext cx="3393728" cy="2811946"/>
          </a:xfrm>
          <a:prstGeom prst="rect">
            <a:avLst/>
          </a:prstGeom>
        </p:spPr>
      </p:pic>
      <p:pic>
        <p:nvPicPr>
          <p:cNvPr id="5" name="Kép 4" descr="A képen képernyőkép, autó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61D9E30-E2C7-6356-3EC4-E8FDE8C59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840" y="1591785"/>
            <a:ext cx="4675576" cy="4519724"/>
          </a:xfrm>
          <a:prstGeom prst="rect">
            <a:avLst/>
          </a:prstGeom>
        </p:spPr>
      </p:pic>
      <p:pic>
        <p:nvPicPr>
          <p:cNvPr id="7" name="Kép 6" descr="A képen képernyőkép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8BE9B1C-9322-796A-0176-FD8048DE4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45" y="1026448"/>
            <a:ext cx="3393729" cy="281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5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8967-4114-94F0-958D-974857A0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C49F8E-A782-DFB5-BBCA-A32DA6823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1FD8C-A6A3-6140-7C8A-B05219FDA9D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1"/>
            <a:r>
              <a:rPr lang="en-US" noProof="0" dirty="0"/>
              <a:t>Based on biological evolution and natural selection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Suitable for optimization problems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AGE2-MOEA, MOEA-D,</a:t>
            </a:r>
            <a:r>
              <a:rPr lang="hu-HU" noProof="0" dirty="0"/>
              <a:t> </a:t>
            </a:r>
            <a:r>
              <a:rPr lang="en-US" noProof="0" dirty="0"/>
              <a:t>NSGA-II</a:t>
            </a:r>
            <a:r>
              <a:rPr lang="hu-HU" noProof="0" dirty="0"/>
              <a:t>,</a:t>
            </a:r>
            <a:r>
              <a:rPr lang="en-US" noProof="0" dirty="0"/>
              <a:t> SPEA2 etc.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Dominance, elitism, crowding distance,</a:t>
            </a:r>
            <a:br>
              <a:rPr lang="en-US" noProof="0" dirty="0"/>
            </a:br>
            <a:r>
              <a:rPr lang="en-US" noProof="0" dirty="0"/>
              <a:t>penalty function, repair operator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75CBC2-E419-FDF5-FEFD-EAEEFD7C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Genetic algorithms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2D330A4A-7968-D2E2-63EE-DEF982F55F3F}"/>
              </a:ext>
            </a:extLst>
          </p:cNvPr>
          <p:cNvSpPr/>
          <p:nvPr/>
        </p:nvSpPr>
        <p:spPr>
          <a:xfrm>
            <a:off x="8835244" y="337038"/>
            <a:ext cx="1939436" cy="882428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Population</a:t>
            </a: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B40816E1-91AA-1789-B8E1-8BE0AD2BF0F6}"/>
              </a:ext>
            </a:extLst>
          </p:cNvPr>
          <p:cNvSpPr/>
          <p:nvPr/>
        </p:nvSpPr>
        <p:spPr>
          <a:xfrm>
            <a:off x="8835244" y="1532818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Fitness</a:t>
            </a: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C84A5894-6E78-5D92-D10F-9F3168BDF031}"/>
              </a:ext>
            </a:extLst>
          </p:cNvPr>
          <p:cNvSpPr/>
          <p:nvPr/>
        </p:nvSpPr>
        <p:spPr>
          <a:xfrm>
            <a:off x="8835244" y="2762924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Selection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48339B10-2B57-C963-7BB7-5B501053C277}"/>
              </a:ext>
            </a:extLst>
          </p:cNvPr>
          <p:cNvSpPr/>
          <p:nvPr/>
        </p:nvSpPr>
        <p:spPr>
          <a:xfrm>
            <a:off x="8835244" y="3998940"/>
            <a:ext cx="1939436" cy="916754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Crossover</a:t>
            </a: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4B4EA18-F96E-8B5E-9E8B-E823BE2C177B}"/>
              </a:ext>
            </a:extLst>
          </p:cNvPr>
          <p:cNvSpPr/>
          <p:nvPr/>
        </p:nvSpPr>
        <p:spPr>
          <a:xfrm>
            <a:off x="8835244" y="5233626"/>
            <a:ext cx="1939436" cy="953635"/>
          </a:xfrm>
          <a:prstGeom prst="ellipse">
            <a:avLst/>
          </a:prstGeom>
          <a:solidFill>
            <a:srgbClr val="2B3D8A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Mutation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2662734C-0DC0-8C9E-181F-6D72FC918C02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9804962" y="1219466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54DC0588-F8D5-3ADD-B11D-C4B90AD84676}"/>
              </a:ext>
            </a:extLst>
          </p:cNvPr>
          <p:cNvCxnSpPr/>
          <p:nvPr/>
        </p:nvCxnSpPr>
        <p:spPr>
          <a:xfrm>
            <a:off x="9804962" y="2449572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FE4D1D50-EA2A-E10A-4C09-71C307698F93}"/>
              </a:ext>
            </a:extLst>
          </p:cNvPr>
          <p:cNvCxnSpPr/>
          <p:nvPr/>
        </p:nvCxnSpPr>
        <p:spPr>
          <a:xfrm>
            <a:off x="9804962" y="3685588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E9E9F21E-D0A9-3C00-D265-FF299D6B5B4D}"/>
              </a:ext>
            </a:extLst>
          </p:cNvPr>
          <p:cNvCxnSpPr/>
          <p:nvPr/>
        </p:nvCxnSpPr>
        <p:spPr>
          <a:xfrm>
            <a:off x="9804962" y="4920274"/>
            <a:ext cx="0" cy="31335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Összekötő: szögletes 13">
            <a:extLst>
              <a:ext uri="{FF2B5EF4-FFF2-40B4-BE49-F238E27FC236}">
                <a16:creationId xmlns:a16="http://schemas.microsoft.com/office/drawing/2014/main" id="{F0A5DDD9-9FCF-3BCB-3AA5-CBDB3A4DD128}"/>
              </a:ext>
            </a:extLst>
          </p:cNvPr>
          <p:cNvCxnSpPr>
            <a:cxnSpLocks/>
            <a:stCxn id="9" idx="6"/>
            <a:endCxn id="6" idx="6"/>
          </p:cNvCxnSpPr>
          <p:nvPr/>
        </p:nvCxnSpPr>
        <p:spPr>
          <a:xfrm flipV="1">
            <a:off x="10774680" y="1991195"/>
            <a:ext cx="12700" cy="3719249"/>
          </a:xfrm>
          <a:prstGeom prst="bentConnector3">
            <a:avLst>
              <a:gd name="adj1" fmla="val 5172150"/>
            </a:avLst>
          </a:prstGeom>
          <a:ln w="5715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34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E5E-448F-2633-38D1-C5AF6045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94E536-069D-D026-DC64-77FFF7343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BE915-5F32-FC7B-C798-281E83A38DF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1"/>
            <a:r>
              <a:rPr lang="en-US" noProof="0" dirty="0"/>
              <a:t>Rich selection of algorithms</a:t>
            </a:r>
          </a:p>
          <a:p>
            <a:pPr lvl="1"/>
            <a:r>
              <a:rPr lang="en-US" noProof="0" dirty="0"/>
              <a:t>Well documented API, tested and efficient implementations</a:t>
            </a:r>
          </a:p>
          <a:p>
            <a:pPr lvl="1"/>
            <a:r>
              <a:rPr lang="en-US" noProof="0" dirty="0"/>
              <a:t>Multi-objective and Pareto-optimality support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 err="1"/>
              <a:t>RefineryProblem</a:t>
            </a:r>
            <a:r>
              <a:rPr lang="en-US" noProof="0" dirty="0"/>
              <a:t> with </a:t>
            </a:r>
            <a:r>
              <a:rPr lang="en-US" noProof="0" dirty="0" err="1"/>
              <a:t>VersionVariable</a:t>
            </a:r>
            <a:r>
              <a:rPr lang="en-US" noProof="0" dirty="0"/>
              <a:t> and </a:t>
            </a:r>
            <a:r>
              <a:rPr lang="en-US" noProof="0" dirty="0" err="1"/>
              <a:t>RuleBasedMutation</a:t>
            </a:r>
            <a:endParaRPr lang="en-US" noProof="0" dirty="0"/>
          </a:p>
          <a:p>
            <a:pPr lvl="2"/>
            <a:r>
              <a:rPr lang="en-US" noProof="0" dirty="0"/>
              <a:t>Test: Class Responsibility Assignment Index</a:t>
            </a:r>
          </a:p>
          <a:p>
            <a:pPr marL="914400" lvl="2" indent="0">
              <a:buNone/>
            </a:pPr>
            <a:endParaRPr lang="en-US" noProof="0" dirty="0"/>
          </a:p>
          <a:p>
            <a:pPr lvl="1"/>
            <a:r>
              <a:rPr lang="en-US" noProof="0" dirty="0"/>
              <a:t>Related Work: MOMoT</a:t>
            </a:r>
          </a:p>
          <a:p>
            <a:pPr lvl="2"/>
            <a:r>
              <a:rPr lang="en-US" noProof="0" dirty="0"/>
              <a:t>Marrying Search-Based Optimization and Model Transformations</a:t>
            </a:r>
          </a:p>
          <a:p>
            <a:pPr lvl="2"/>
            <a:r>
              <a:rPr lang="en-US" noProof="0" dirty="0"/>
              <a:t>Use of MOEA, but more focused on transformations rather than graph modeling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2687CE-C2F9-7BD5-CA5B-DC1E38DA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MOEA integration to Refinery</a:t>
            </a:r>
          </a:p>
        </p:txBody>
      </p:sp>
      <p:pic>
        <p:nvPicPr>
          <p:cNvPr id="5" name="Picture 2" descr="MOEA Framework · GitHub">
            <a:extLst>
              <a:ext uri="{FF2B5EF4-FFF2-40B4-BE49-F238E27FC236}">
                <a16:creationId xmlns:a16="http://schemas.microsoft.com/office/drawing/2014/main" id="{4BA9A42E-A32B-13B5-0642-A47069A04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923" y="25747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22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9F63-6113-7490-1F26-7914622F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06D9B2-8445-80E3-7694-31C494F71A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F6D5-FD00-FE64-1465-B1C7335E81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5061" y="1645920"/>
            <a:ext cx="11021961" cy="5051321"/>
          </a:xfrm>
        </p:spPr>
        <p:txBody>
          <a:bodyPr>
            <a:normAutofit/>
          </a:bodyPr>
          <a:lstStyle/>
          <a:p>
            <a:pPr lvl="1"/>
            <a:r>
              <a:rPr lang="en-US" noProof="0" dirty="0"/>
              <a:t>Goal: </a:t>
            </a:r>
            <a:r>
              <a:rPr lang="en-US" noProof="0" dirty="0" err="1"/>
              <a:t>neurosymbolic</a:t>
            </a:r>
            <a:r>
              <a:rPr lang="en-US" noProof="0" dirty="0"/>
              <a:t> reasoning framework</a:t>
            </a:r>
          </a:p>
          <a:p>
            <a:pPr lvl="1"/>
            <a:r>
              <a:rPr lang="en-US" noProof="0" dirty="0"/>
              <a:t>Required:</a:t>
            </a:r>
          </a:p>
          <a:p>
            <a:pPr lvl="2"/>
            <a:r>
              <a:rPr lang="en-US" noProof="0" dirty="0"/>
              <a:t>Confidence value of relations, weighted selection of activations</a:t>
            </a:r>
          </a:p>
          <a:p>
            <a:pPr lvl="2"/>
            <a:r>
              <a:rPr lang="en-US" noProof="0" dirty="0"/>
              <a:t>Accounting of loss function as an objective</a:t>
            </a:r>
          </a:p>
          <a:p>
            <a:pPr lvl="2"/>
            <a:r>
              <a:rPr lang="en-US" noProof="0" dirty="0"/>
              <a:t>Integration of external performance </a:t>
            </a:r>
            <a:r>
              <a:rPr lang="en-US" noProof="0" dirty="0" err="1"/>
              <a:t>analyser</a:t>
            </a:r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F7FB21-69C2-336C-850C-F949784C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978" y="313299"/>
            <a:ext cx="11021962" cy="1332621"/>
          </a:xfrm>
        </p:spPr>
        <p:txBody>
          <a:bodyPr>
            <a:normAutofit/>
          </a:bodyPr>
          <a:lstStyle/>
          <a:p>
            <a:r>
              <a:rPr lang="en-US" noProof="0" dirty="0"/>
              <a:t>Outlook: Verifiable AI/ML</a:t>
            </a:r>
            <a:br>
              <a:rPr lang="en-US" noProof="0" dirty="0"/>
            </a:br>
            <a:r>
              <a:rPr lang="en-US" noProof="0" dirty="0"/>
              <a:t> techniques for PNT applications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018A811-4476-D3EA-B450-F3099FB77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376" y="313299"/>
            <a:ext cx="1464563" cy="146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851E3BC-6B6D-82BF-5658-FC45B73A1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35" y="3741290"/>
            <a:ext cx="7092131" cy="2461564"/>
          </a:xfrm>
          <a:prstGeom prst="rect">
            <a:avLst/>
          </a:prstGeom>
        </p:spPr>
      </p:pic>
      <p:pic>
        <p:nvPicPr>
          <p:cNvPr id="8" name="Kép 7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A31C691-264E-6B10-0168-591B33D9AE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213" y="2978541"/>
            <a:ext cx="2057687" cy="3458058"/>
          </a:xfrm>
          <a:prstGeom prst="rect">
            <a:avLst/>
          </a:prstGeom>
        </p:spPr>
      </p:pic>
      <p:pic>
        <p:nvPicPr>
          <p:cNvPr id="9" name="Kép 8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625874D-CD97-6898-1339-A73C6698A7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582" y="2989505"/>
            <a:ext cx="2448915" cy="34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3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AC3C-6565-06CE-C43E-DB2D8B5E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3376E6-FF7C-6962-999D-2A47E0A26B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54ACAB-0C38-ED99-627B-0B5121D7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830D26B9-CCE0-70EA-85FC-FBF499EB2C3C}"/>
              </a:ext>
            </a:extLst>
          </p:cNvPr>
          <p:cNvSpPr txBox="1">
            <a:spLocks/>
          </p:cNvSpPr>
          <p:nvPr/>
        </p:nvSpPr>
        <p:spPr>
          <a:xfrm>
            <a:off x="437523" y="1476672"/>
            <a:ext cx="9849477" cy="46126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z="2400" noProof="0" dirty="0"/>
              <a:t>1. Understanding main concepts of graph generation and DSE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endParaRPr lang="en-US" sz="2400" noProof="0" dirty="0"/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z="2400" noProof="0" dirty="0"/>
              <a:t>2. Getting familiar with Refinery framework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endParaRPr lang="en-US" sz="2400" noProof="0" dirty="0"/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z="2400" noProof="0" dirty="0"/>
              <a:t>3. Advantages of evolutionary algorithms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endParaRPr lang="en-US" sz="2400" noProof="0" dirty="0"/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z="2400" noProof="0" dirty="0"/>
              <a:t>4. Integration of MOEA Framework</a:t>
            </a:r>
          </a:p>
          <a:p>
            <a:pPr>
              <a:spcBef>
                <a:spcPts val="500"/>
              </a:spcBef>
            </a:pPr>
            <a:endParaRPr lang="en-US" sz="2400" noProof="0" dirty="0"/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sz="2400" noProof="0" dirty="0"/>
              <a:t>Future work: </a:t>
            </a:r>
            <a:r>
              <a:rPr lang="en-US" sz="2400" b="1" noProof="0" dirty="0"/>
              <a:t>Crossover</a:t>
            </a:r>
            <a:r>
              <a:rPr lang="en-US" sz="2400" noProof="0" dirty="0"/>
              <a:t> function of graphs</a:t>
            </a: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2C997B57-D816-F9F0-CD8C-B3A4F85F8A63}"/>
              </a:ext>
            </a:extLst>
          </p:cNvPr>
          <p:cNvSpPr/>
          <p:nvPr/>
        </p:nvSpPr>
        <p:spPr>
          <a:xfrm>
            <a:off x="9295842" y="2357773"/>
            <a:ext cx="767054" cy="742401"/>
          </a:xfrm>
          <a:prstGeom prst="ellipse">
            <a:avLst/>
          </a:prstGeom>
          <a:solidFill>
            <a:srgbClr val="372B61"/>
          </a:solidFill>
          <a:ln>
            <a:solidFill>
              <a:srgbClr val="372B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C46E793D-0DBB-6BB1-01B9-1F42424EF10D}"/>
              </a:ext>
            </a:extLst>
          </p:cNvPr>
          <p:cNvSpPr/>
          <p:nvPr/>
        </p:nvSpPr>
        <p:spPr>
          <a:xfrm>
            <a:off x="10326142" y="3315455"/>
            <a:ext cx="767054" cy="742401"/>
          </a:xfrm>
          <a:prstGeom prst="ellipse">
            <a:avLst/>
          </a:prstGeom>
          <a:solidFill>
            <a:srgbClr val="372B61"/>
          </a:solidFill>
          <a:ln>
            <a:solidFill>
              <a:srgbClr val="372B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1E470506-2720-5B0D-8710-398533C129F8}"/>
              </a:ext>
            </a:extLst>
          </p:cNvPr>
          <p:cNvSpPr/>
          <p:nvPr/>
        </p:nvSpPr>
        <p:spPr>
          <a:xfrm>
            <a:off x="8265542" y="3315455"/>
            <a:ext cx="767054" cy="742401"/>
          </a:xfrm>
          <a:prstGeom prst="ellipse">
            <a:avLst/>
          </a:prstGeom>
          <a:solidFill>
            <a:srgbClr val="372B61"/>
          </a:solidFill>
          <a:ln>
            <a:solidFill>
              <a:srgbClr val="372B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E4CE503D-C053-C0F9-2587-9BED23696261}"/>
              </a:ext>
            </a:extLst>
          </p:cNvPr>
          <p:cNvSpPr/>
          <p:nvPr/>
        </p:nvSpPr>
        <p:spPr>
          <a:xfrm>
            <a:off x="9295842" y="4638927"/>
            <a:ext cx="767054" cy="742401"/>
          </a:xfrm>
          <a:prstGeom prst="ellipse">
            <a:avLst/>
          </a:prstGeom>
          <a:solidFill>
            <a:srgbClr val="372B61"/>
          </a:solidFill>
          <a:ln>
            <a:solidFill>
              <a:srgbClr val="372B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D733890D-B2A7-9467-F291-AB80D7EE94B5}"/>
              </a:ext>
            </a:extLst>
          </p:cNvPr>
          <p:cNvCxnSpPr>
            <a:stCxn id="6" idx="3"/>
            <a:endCxn id="8" idx="7"/>
          </p:cNvCxnSpPr>
          <p:nvPr/>
        </p:nvCxnSpPr>
        <p:spPr>
          <a:xfrm flipH="1">
            <a:off x="8920264" y="2991452"/>
            <a:ext cx="487910" cy="432725"/>
          </a:xfrm>
          <a:prstGeom prst="straightConnector1">
            <a:avLst/>
          </a:prstGeom>
          <a:ln w="38100">
            <a:solidFill>
              <a:srgbClr val="2B3D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70F0956D-8620-03F4-2DA0-15B47290F87B}"/>
              </a:ext>
            </a:extLst>
          </p:cNvPr>
          <p:cNvCxnSpPr>
            <a:stCxn id="6" idx="5"/>
            <a:endCxn id="7" idx="1"/>
          </p:cNvCxnSpPr>
          <p:nvPr/>
        </p:nvCxnSpPr>
        <p:spPr>
          <a:xfrm>
            <a:off x="9950564" y="2991452"/>
            <a:ext cx="487910" cy="432725"/>
          </a:xfrm>
          <a:prstGeom prst="straightConnector1">
            <a:avLst/>
          </a:prstGeom>
          <a:ln w="38100">
            <a:solidFill>
              <a:srgbClr val="2B3D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lipszis 11">
            <a:extLst>
              <a:ext uri="{FF2B5EF4-FFF2-40B4-BE49-F238E27FC236}">
                <a16:creationId xmlns:a16="http://schemas.microsoft.com/office/drawing/2014/main" id="{35EF0306-61E4-264C-F749-6A6B99E799DD}"/>
              </a:ext>
            </a:extLst>
          </p:cNvPr>
          <p:cNvSpPr/>
          <p:nvPr/>
        </p:nvSpPr>
        <p:spPr>
          <a:xfrm flipH="1">
            <a:off x="9631672" y="4197179"/>
            <a:ext cx="83828" cy="89170"/>
          </a:xfrm>
          <a:prstGeom prst="ellipse">
            <a:avLst/>
          </a:prstGeom>
          <a:solidFill>
            <a:srgbClr val="2B3D8A"/>
          </a:solidFill>
          <a:ln>
            <a:solidFill>
              <a:srgbClr val="2B3D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10A41836-E17A-BE51-3E77-4FCCAA0432B4}"/>
              </a:ext>
            </a:extLst>
          </p:cNvPr>
          <p:cNvCxnSpPr>
            <a:cxnSpLocks/>
            <a:stCxn id="8" idx="5"/>
            <a:endCxn id="12" idx="6"/>
          </p:cNvCxnSpPr>
          <p:nvPr/>
        </p:nvCxnSpPr>
        <p:spPr>
          <a:xfrm>
            <a:off x="8920264" y="3949134"/>
            <a:ext cx="711408" cy="292630"/>
          </a:xfrm>
          <a:prstGeom prst="line">
            <a:avLst/>
          </a:prstGeom>
          <a:ln w="38100">
            <a:solidFill>
              <a:srgbClr val="2B3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8B233C4B-9C9B-E915-C48B-564B6491E757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 flipH="1">
            <a:off x="9715500" y="3949134"/>
            <a:ext cx="722974" cy="292630"/>
          </a:xfrm>
          <a:prstGeom prst="line">
            <a:avLst/>
          </a:prstGeom>
          <a:ln w="38100">
            <a:solidFill>
              <a:srgbClr val="2B3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06AA503B-12E9-D232-C47D-1311DC447454}"/>
              </a:ext>
            </a:extLst>
          </p:cNvPr>
          <p:cNvCxnSpPr>
            <a:cxnSpLocks/>
            <a:stCxn id="12" idx="4"/>
            <a:endCxn id="9" idx="0"/>
          </p:cNvCxnSpPr>
          <p:nvPr/>
        </p:nvCxnSpPr>
        <p:spPr>
          <a:xfrm>
            <a:off x="9673586" y="4286349"/>
            <a:ext cx="5783" cy="352578"/>
          </a:xfrm>
          <a:prstGeom prst="straightConnector1">
            <a:avLst/>
          </a:prstGeom>
          <a:ln w="38100">
            <a:solidFill>
              <a:srgbClr val="2B3D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lipszis 15">
            <a:extLst>
              <a:ext uri="{FF2B5EF4-FFF2-40B4-BE49-F238E27FC236}">
                <a16:creationId xmlns:a16="http://schemas.microsoft.com/office/drawing/2014/main" id="{4690EB9A-1B51-1921-FBF9-848BB818AD7D}"/>
              </a:ext>
            </a:extLst>
          </p:cNvPr>
          <p:cNvSpPr/>
          <p:nvPr/>
        </p:nvSpPr>
        <p:spPr>
          <a:xfrm>
            <a:off x="9415176" y="3993386"/>
            <a:ext cx="511275" cy="4635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5739B9F0-89D4-CAF7-B659-B95E3D13B078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6613451" y="4389017"/>
            <a:ext cx="2876599" cy="6211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zövegdoboz 2">
            <a:extLst>
              <a:ext uri="{FF2B5EF4-FFF2-40B4-BE49-F238E27FC236}">
                <a16:creationId xmlns:a16="http://schemas.microsoft.com/office/drawing/2014/main" id="{E81710A9-4CAD-8182-21A7-42150C2EAAE2}"/>
              </a:ext>
            </a:extLst>
          </p:cNvPr>
          <p:cNvSpPr txBox="1"/>
          <p:nvPr/>
        </p:nvSpPr>
        <p:spPr>
          <a:xfrm>
            <a:off x="1701479" y="5318904"/>
            <a:ext cx="499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Evaluation of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80955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  <p:bldP spid="16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1974C-E3F1-9778-F6B8-53367AD4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1FFBA9-947F-AF3E-24C3-C20D6207F9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4B4F-92C7-AAE8-B90C-3D5BB855EE0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b="0" i="0" noProof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Oszkár </a:t>
            </a:r>
            <a:r>
              <a:rPr lang="en-US" sz="2400" b="0" i="0" noProof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Semeráth</a:t>
            </a:r>
            <a:r>
              <a:rPr lang="en-US" sz="2400" b="0" i="0" noProof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András Szabolcs Nagy, and Dániel Varró. 2018. A graph solver for the automated generation of consistent domain-specific models. In Proceedings of the 40th International Conference on Software Engineering (ICSE '18). Association for Computing Machinery, New York, NY, USA, 969–980.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https://doi.org/10.1145/3180155.3180186</a:t>
            </a:r>
            <a:endParaRPr lang="en-US" sz="2400" b="0" i="0" noProof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https://refinery.tools/</a:t>
            </a: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https://navisp.esa.int/project/details/294/show</a:t>
            </a:r>
          </a:p>
          <a:p>
            <a:pPr algn="l"/>
            <a:r>
              <a:rPr lang="en-US" sz="2400" b="0" i="0" u="none" strike="noStrike" baseline="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Máté Földiák, Kristóf </a:t>
            </a:r>
            <a:r>
              <a:rPr lang="en-US" sz="2400" b="0" i="0" u="none" strike="noStrike" baseline="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Marussy</a:t>
            </a:r>
            <a:r>
              <a:rPr lang="en-US" sz="2400" b="0" i="0" u="none" strike="noStrike" baseline="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Dániel Varró, and István Majzik. 2022. System Architecture Synthesis for Performability by Logic Solvers. In ACM/IEEE 25th International Conference on Model Driven Engineering Languages and Systems (MODELS ’22), October 23–28, 2022, Montreal, QC, Canada. ACM, New York, NY, USA, 12 pages.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https://doi.org/10.1145/3550355.3552448</a:t>
            </a:r>
            <a:endParaRPr lang="en-US" sz="2400" b="0" i="0" u="none" strike="noStrike" baseline="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https://moeaframework.org/</a:t>
            </a:r>
          </a:p>
          <a:p>
            <a:pPr algn="l"/>
            <a:r>
              <a:rPr lang="en-US" sz="2400" b="0" i="0" noProof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Hadka</a:t>
            </a:r>
            <a:r>
              <a:rPr lang="en-US" sz="2400" b="0" i="0" noProof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D. (2025). MOEA Framework A Free and Open Source Java Framework for </a:t>
            </a:r>
            <a:r>
              <a:rPr lang="en-US" sz="2400" b="0" i="0" noProof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Multiobjective</a:t>
            </a:r>
            <a:r>
              <a:rPr lang="en-US" sz="2400" b="0" i="0" noProof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Optimization (Version 5.0) [Computer software]. Retrieved from https://github.com/MOEAFramework/MOEAFramework.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https://ceur-ws.org/Vol-1758/paper1.pdf</a:t>
            </a:r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742590-F067-DF90-A270-0D4B6EE6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88099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8046-7C63-10CF-E977-9C2B3AC6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0A39F69F-2D1D-8741-252F-84116CCDB2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2B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513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48F6-3DBB-76A3-E453-5BA1489B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10D60F-7C10-B190-290E-8A0357D7B1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FC7CC2-F69A-0ECA-BD50-91159461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 err="1"/>
              <a:t>Traffic</a:t>
            </a:r>
            <a:r>
              <a:rPr lang="hu-HU" noProof="0" dirty="0"/>
              <a:t> </a:t>
            </a:r>
            <a:r>
              <a:rPr lang="hu-HU" noProof="0" dirty="0" err="1"/>
              <a:t>situation</a:t>
            </a:r>
            <a:r>
              <a:rPr lang="en-US" noProof="0" dirty="0"/>
              <a:t> example</a:t>
            </a:r>
          </a:p>
        </p:txBody>
      </p:sp>
      <p:pic>
        <p:nvPicPr>
          <p:cNvPr id="10" name="Kép 9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AA69CB8-1472-82B2-191A-5D29D921A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185" y="1456373"/>
            <a:ext cx="3238500" cy="4800600"/>
          </a:xfrm>
          <a:prstGeom prst="rect">
            <a:avLst/>
          </a:prstGeom>
        </p:spPr>
      </p:pic>
      <p:pic>
        <p:nvPicPr>
          <p:cNvPr id="8" name="Kép 7" descr="A képen képernyőkép, szöveg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B324AEBF-4677-695A-2669-4C8587CD1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884" y="1677558"/>
            <a:ext cx="5561338" cy="4607966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A253C4EA-95FC-ED3A-FE21-901B364C972F}"/>
              </a:ext>
            </a:extLst>
          </p:cNvPr>
          <p:cNvSpPr txBox="1"/>
          <p:nvPr/>
        </p:nvSpPr>
        <p:spPr>
          <a:xfrm flipH="1">
            <a:off x="8461092" y="4595149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L1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1BD2C16D-39B6-45B9-0D27-2C9C97B6317D}"/>
              </a:ext>
            </a:extLst>
          </p:cNvPr>
          <p:cNvSpPr txBox="1"/>
          <p:nvPr/>
        </p:nvSpPr>
        <p:spPr>
          <a:xfrm flipH="1">
            <a:off x="8461092" y="2582356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L2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7F35CE68-E5CD-0709-BAF0-7AA99C35F118}"/>
              </a:ext>
            </a:extLst>
          </p:cNvPr>
          <p:cNvSpPr txBox="1"/>
          <p:nvPr/>
        </p:nvSpPr>
        <p:spPr>
          <a:xfrm flipH="1">
            <a:off x="10257097" y="1807579"/>
            <a:ext cx="50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L3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896C4D22-F788-9456-8FAD-D6BB108AFFAE}"/>
              </a:ext>
            </a:extLst>
          </p:cNvPr>
          <p:cNvSpPr txBox="1"/>
          <p:nvPr/>
        </p:nvSpPr>
        <p:spPr>
          <a:xfrm flipH="1">
            <a:off x="6784691" y="2153761"/>
            <a:ext cx="62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ego</a:t>
            </a:r>
          </a:p>
        </p:txBody>
      </p:sp>
    </p:spTree>
    <p:extLst>
      <p:ext uri="{BB962C8B-B14F-4D97-AF65-F5344CB8AC3E}">
        <p14:creationId xmlns:p14="http://schemas.microsoft.com/office/powerpoint/2010/main" val="261958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FC74-5967-5066-5187-549D8A59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051C88-32B4-6A4E-3227-4E76698398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E91AD12-2462-AA87-53B6-B6F0F0FCC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" y="729853"/>
            <a:ext cx="10706100" cy="5047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400" noProof="0" dirty="0">
                <a:solidFill>
                  <a:srgbClr val="0033B3"/>
                </a:solidFill>
                <a:latin typeface="JetBrains Mono"/>
              </a:rPr>
              <a:t>private static final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RelationalQuery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carOnLane</a:t>
            </a:r>
            <a:r>
              <a:rPr lang="en-US" sz="1400" i="1" noProof="0" dirty="0">
                <a:solidFill>
                  <a:srgbClr val="871094"/>
                </a:solidFill>
                <a:latin typeface="JetBrains Mono"/>
              </a:rPr>
              <a:t>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Query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 err="1">
                <a:solidFill>
                  <a:srgbClr val="067D17"/>
                </a:solidFill>
                <a:latin typeface="JetBrains Mono"/>
              </a:rPr>
              <a:t>CarOnLane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.clause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carView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laneView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.notEquivalent(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onTrueView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033B3"/>
                </a:solidFill>
                <a:latin typeface="JetBrains Mono"/>
              </a:rPr>
              <a:t>private static final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RelationalQuery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inOneLine</a:t>
            </a:r>
            <a:r>
              <a:rPr lang="en-US" sz="1400" i="1" noProof="0" dirty="0">
                <a:solidFill>
                  <a:srgbClr val="871094"/>
                </a:solidFill>
                <a:latin typeface="JetBrains Mono"/>
              </a:rPr>
              <a:t>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Query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 err="1">
                <a:solidFill>
                  <a:srgbClr val="067D17"/>
                </a:solidFill>
                <a:latin typeface="JetBrains Mono"/>
              </a:rPr>
              <a:t>InOneLine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br>
              <a:rPr lang="en-US" sz="1400" noProof="0" dirty="0">
                <a:solidFill>
                  <a:srgbClr val="000000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      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.clause(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carOnLane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.clause(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carOnLane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.clause(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List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carOnLane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carOnLane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))));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033B3"/>
                </a:solidFill>
                <a:latin typeface="JetBrains Mono"/>
              </a:rPr>
              <a:t>private static final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RelationalQuery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leftTo</a:t>
            </a:r>
            <a:r>
              <a:rPr lang="en-US" sz="1400" i="1" noProof="0" dirty="0">
                <a:solidFill>
                  <a:srgbClr val="871094"/>
                </a:solidFill>
                <a:latin typeface="JetBrains Mono"/>
              </a:rPr>
              <a:t>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Query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„</a:t>
            </a:r>
            <a:r>
              <a:rPr lang="en-US" sz="1400" noProof="0" dirty="0" err="1">
                <a:solidFill>
                  <a:srgbClr val="067D17"/>
                </a:solidFill>
                <a:latin typeface="JetBrains Mono"/>
              </a:rPr>
              <a:t>LeftTo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.clause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leftTrueView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.callTransitive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o1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o2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));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br>
              <a:rPr lang="en-US" sz="1400" i="1" noProof="0" dirty="0">
                <a:solidFill>
                  <a:srgbClr val="8C8C8C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033B3"/>
                </a:solidFill>
                <a:latin typeface="JetBrains Mono"/>
              </a:rPr>
              <a:t>private static final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Rule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assignLeftBetweenLines</a:t>
            </a:r>
            <a:r>
              <a:rPr lang="en-US" sz="1400" i="1" noProof="0" dirty="0">
                <a:solidFill>
                  <a:srgbClr val="871094"/>
                </a:solidFill>
                <a:latin typeface="JetBrains Mono"/>
              </a:rPr>
              <a:t>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Rule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 err="1">
                <a:solidFill>
                  <a:srgbClr val="067D17"/>
                </a:solidFill>
                <a:latin typeface="JetBrains Mono"/>
              </a:rPr>
              <a:t>AssignLeftBetweenLines</a:t>
            </a:r>
            <a:r>
              <a:rPr lang="en-US" sz="1400" noProof="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a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 -&gt;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builder</a:t>
            </a:r>
            <a:br>
              <a:rPr lang="en-US" sz="1400" noProof="0" dirty="0">
                <a:solidFill>
                  <a:srgbClr val="000000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          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.clause((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d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 -&gt; </a:t>
            </a:r>
            <a:r>
              <a:rPr lang="en-US" sz="1400" noProof="0" dirty="0" err="1">
                <a:solidFill>
                  <a:srgbClr val="000000"/>
                </a:solidFill>
                <a:latin typeface="JetBrains Mono"/>
              </a:rPr>
              <a:t>List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400" i="1" noProof="0" dirty="0" err="1">
                <a:solidFill>
                  <a:srgbClr val="080808"/>
                </a:solidFill>
                <a:latin typeface="JetBrains Mono"/>
              </a:rPr>
              <a:t>of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   </a:t>
            </a:r>
            <a:r>
              <a:rPr lang="en-US" sz="1400" i="1" noProof="0" dirty="0">
                <a:solidFill>
                  <a:srgbClr val="080808"/>
                </a:solidFill>
                <a:latin typeface="JetBrains Mono"/>
              </a:rPr>
              <a:t>not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inOneLine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a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b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)),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  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inOneLine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a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inOneLine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b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d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   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leftTo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c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d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), </a:t>
            </a:r>
            <a:r>
              <a:rPr lang="en-US" sz="1400" i="1" noProof="0" dirty="0">
                <a:solidFill>
                  <a:srgbClr val="080808"/>
                </a:solidFill>
                <a:latin typeface="JetBrains Mono"/>
              </a:rPr>
              <a:t>not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i="1" noProof="0" dirty="0" err="1">
                <a:solidFill>
                  <a:srgbClr val="871094"/>
                </a:solidFill>
                <a:latin typeface="JetBrains Mono"/>
              </a:rPr>
              <a:t>leftTo</a:t>
            </a:r>
            <a:r>
              <a:rPr lang="en-US" sz="1400" noProof="0" dirty="0" err="1">
                <a:solidFill>
                  <a:srgbClr val="080808"/>
                </a:solidFill>
                <a:latin typeface="JetBrains Mono"/>
              </a:rPr>
              <a:t>.call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a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851691"/>
                </a:solidFill>
                <a:latin typeface="JetBrains Mono"/>
              </a:rPr>
              <a:t>b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)))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.action(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      </a:t>
            </a:r>
            <a:r>
              <a:rPr lang="en-US" sz="1400" i="1" noProof="0" dirty="0">
                <a:solidFill>
                  <a:srgbClr val="080808"/>
                </a:solidFill>
                <a:latin typeface="JetBrains Mono"/>
              </a:rPr>
              <a:t>put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400" i="1" noProof="0" dirty="0">
                <a:solidFill>
                  <a:srgbClr val="871094"/>
                </a:solidFill>
                <a:latin typeface="JetBrains Mono"/>
              </a:rPr>
              <a:t>left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1750EB"/>
                </a:solidFill>
                <a:latin typeface="JetBrains Mono"/>
              </a:rPr>
              <a:t>1.0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a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US" sz="1400" noProof="0" dirty="0">
                <a:solidFill>
                  <a:srgbClr val="000000"/>
                </a:solidFill>
                <a:latin typeface="JetBrains Mono"/>
              </a:rPr>
              <a:t>b</a:t>
            </a: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sz="1400" noProof="0" dirty="0">
                <a:solidFill>
                  <a:srgbClr val="080808"/>
                </a:solidFill>
                <a:latin typeface="JetBrains Mono"/>
              </a:rPr>
            </a:br>
            <a:r>
              <a:rPr lang="en-US" sz="1400" noProof="0" dirty="0">
                <a:solidFill>
                  <a:srgbClr val="080808"/>
                </a:solidFill>
                <a:latin typeface="JetBrains Mono"/>
              </a:rPr>
              <a:t>          ));</a:t>
            </a:r>
            <a:endParaRPr lang="en-US" sz="1400" noProof="0" dirty="0">
              <a:latin typeface="Arial" panose="020B0604020202020204" pitchFamily="34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59963D2-0081-E8AE-A760-F6D4699ABEEF}"/>
              </a:ext>
            </a:extLst>
          </p:cNvPr>
          <p:cNvSpPr txBox="1"/>
          <p:nvPr/>
        </p:nvSpPr>
        <p:spPr>
          <a:xfrm>
            <a:off x="8286749" y="114300"/>
            <a:ext cx="3790951" cy="313932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Symbol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Boolean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car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Symbol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"Car"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Symbol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Double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Symbol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"On"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Double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carView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KeyOnlyView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car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laneView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KeyOnlyView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lane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FunctionView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leftView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FunctionView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left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onTrueView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FilteredView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value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value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AnySymbolView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1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leftTrueView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1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FilteredView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&lt;&gt;(</a:t>
            </a:r>
            <a:r>
              <a:rPr kumimoji="0" lang="en-US" sz="11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left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value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value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kumimoji="0" lang="en-US" sz="11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170992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6862-0A37-569F-EB24-B04A9829E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BC7B59-A609-03E0-ADC5-6E28DDB7A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543EE47E-5026-E5B7-6AB5-C79EA58B4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5084"/>
            <a:ext cx="12192000" cy="42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0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22C4-B0C7-F321-F5C8-FF6DBA83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01B671-BB1D-FA55-038F-7FF88BCB86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CAD1D5D-CE0D-E305-D70B-50993A7F9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57" y="273995"/>
            <a:ext cx="6335683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RefineryProblem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problem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RefineryProblem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initialVersion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NSGAII algorithm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NSGAII(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problem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algorithm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.setVariation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problem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.getMutation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algorithm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.setInitialPopulationSize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algorithm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.run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NondominatedPopulation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result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algorithm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.getResult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endParaRPr kumimoji="0" lang="en-US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5AC9E0A-ED10-4BD0-ED5E-C0AEA181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25" y="2385546"/>
            <a:ext cx="6554115" cy="349616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739750C-0079-C519-EF64-99CD363A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912" y="976291"/>
            <a:ext cx="5903088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classCohesion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Query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classCohesion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Double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noProof="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output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.clause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mc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classElementView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.call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mc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.assign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methodCount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.leftJoin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output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.assign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add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div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asReal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mai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.leftJoin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asReal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mul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attributeCount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.leftJoin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div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asReal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mmi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.leftJoin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RealTerms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asReal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mul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mc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IntTerms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constant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)));</a:t>
            </a:r>
            <a:endParaRPr kumimoji="0" lang="en-US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958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71F7-3464-9A8B-789A-B983327F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FA7A75-5260-DEDC-5492-A1D7AC5202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3" name="Ábra 2">
            <a:extLst>
              <a:ext uri="{FF2B5EF4-FFF2-40B4-BE49-F238E27FC236}">
                <a16:creationId xmlns:a16="http://schemas.microsoft.com/office/drawing/2014/main" id="{D7175AFC-E084-A4B2-7006-26A9479F7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389258"/>
            <a:ext cx="12192000" cy="2126240"/>
          </a:xfrm>
          <a:prstGeom prst="rect">
            <a:avLst/>
          </a:prstGeom>
        </p:spPr>
      </p:pic>
      <p:pic>
        <p:nvPicPr>
          <p:cNvPr id="4" name="Ábra 3">
            <a:extLst>
              <a:ext uri="{FF2B5EF4-FFF2-40B4-BE49-F238E27FC236}">
                <a16:creationId xmlns:a16="http://schemas.microsoft.com/office/drawing/2014/main" id="{2647DB4C-62EF-B956-559C-D7DDDAB415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678443"/>
            <a:ext cx="12192000" cy="193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3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F85A-0B39-9E4E-5937-ECC69826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BCB82-AEB4-4C08-CCA4-72ECB4440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1D1F98A-3C8D-A3F1-5436-FA53ED396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15028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DEE32D0-5A04-7A4F-FB92-FBA8657F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1" y="3118596"/>
            <a:ext cx="6055362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Objective 1: number of on and left that are not 1.0 or 0.0</a:t>
            </a:r>
            <a:b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RelationalQuery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unsureRelations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Query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unsureRelations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.clause(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onUnsureView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.call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.clause(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leftUnsureView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.call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)));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FunctionalQuery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numOfUnsureRelations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Query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output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.clause(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output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.assign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unsureRelations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.count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Variable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Variable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));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EE39C1-EB4B-8E28-15FA-106D2A3B0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244" y="3118596"/>
            <a:ext cx="4947918" cy="28007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static final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Rule 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setOnToOne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Rule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SetOnToOne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-&gt;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builder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.clause(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1" u="none" strike="noStrike" cap="none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onUnsureView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.call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en-US" sz="1600" b="0" i="0" u="none" strike="noStrike" cap="none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.action(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remove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put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on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1.0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</a:t>
            </a: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put(loss, 1.0 – v)</a:t>
            </a:r>
            <a:b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sz="1600" b="0" i="1" u="none" strike="noStrike" cap="none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</a:t>
            </a: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sz="1600" b="0" i="0" u="none" strike="noStrike" cap="none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en-US" sz="16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460356"/>
      </p:ext>
    </p:extLst>
  </p:cSld>
  <p:clrMapOvr>
    <a:masterClrMapping/>
  </p:clrMapOvr>
</p:sld>
</file>

<file path=ppt/theme/theme1.xml><?xml version="1.0" encoding="utf-8"?>
<a:theme xmlns:a="http://schemas.openxmlformats.org/drawingml/2006/main" name="1_FTSRG">
  <a:themeElements>
    <a:clrScheme name="FTSRG">
      <a:dk1>
        <a:srgbClr val="000000"/>
      </a:dk1>
      <a:lt1>
        <a:srgbClr val="FFFFFF"/>
      </a:lt1>
      <a:dk2>
        <a:srgbClr val="2F2D2E"/>
      </a:dk2>
      <a:lt2>
        <a:srgbClr val="A7A8A7"/>
      </a:lt2>
      <a:accent1>
        <a:srgbClr val="1446A0"/>
      </a:accent1>
      <a:accent2>
        <a:srgbClr val="960018"/>
      </a:accent2>
      <a:accent3>
        <a:srgbClr val="522B47"/>
      </a:accent3>
      <a:accent4>
        <a:srgbClr val="FB8B24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TSRG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2357</TotalTime>
  <Words>2214</Words>
  <Application>Microsoft Office PowerPoint</Application>
  <PresentationFormat>Szélesvásznú</PresentationFormat>
  <Paragraphs>235</Paragraphs>
  <Slides>19</Slides>
  <Notes>19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8" baseType="lpstr">
      <vt:lpstr>LinLibertineT</vt:lpstr>
      <vt:lpstr>Calibri</vt:lpstr>
      <vt:lpstr>JetBrains Mono</vt:lpstr>
      <vt:lpstr>Aptos</vt:lpstr>
      <vt:lpstr>Courier New</vt:lpstr>
      <vt:lpstr>Open Sans ExtraBold</vt:lpstr>
      <vt:lpstr>Arial</vt:lpstr>
      <vt:lpstr>Open Sans</vt:lpstr>
      <vt:lpstr>1_FTSRG</vt:lpstr>
      <vt:lpstr>Development of an objective value optimization-based traversal algorithm for a graph generation framework</vt:lpstr>
      <vt:lpstr>Motivation</vt:lpstr>
      <vt:lpstr>Preliminary in Refinery</vt:lpstr>
      <vt:lpstr>Challenges</vt:lpstr>
      <vt:lpstr>Genetic algorithms</vt:lpstr>
      <vt:lpstr>Genetic algorithms</vt:lpstr>
      <vt:lpstr>Challenge: Crossover of Graphs</vt:lpstr>
      <vt:lpstr>Genetic algorithms</vt:lpstr>
      <vt:lpstr>MOEA integration to Refinery</vt:lpstr>
      <vt:lpstr>Outlook: Verifiable AI/ML  techniques for PNT applications</vt:lpstr>
      <vt:lpstr>Summary</vt:lpstr>
      <vt:lpstr>References</vt:lpstr>
      <vt:lpstr>PowerPoint-bemutató</vt:lpstr>
      <vt:lpstr>Traffic situation example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Presentation</dc:title>
  <dc:creator>kris</dc:creator>
  <cp:lastModifiedBy>Tömöri Péter András</cp:lastModifiedBy>
  <cp:revision>422</cp:revision>
  <dcterms:created xsi:type="dcterms:W3CDTF">2019-09-05T14:22:57Z</dcterms:created>
  <dcterms:modified xsi:type="dcterms:W3CDTF">2025-05-29T08:44:45Z</dcterms:modified>
</cp:coreProperties>
</file>